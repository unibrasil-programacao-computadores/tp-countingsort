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70" r:id="rId3"/>
    <p:sldId id="271" r:id="rId4"/>
    <p:sldId id="272" r:id="rId5"/>
    <p:sldId id="273" r:id="rId6"/>
    <p:sldId id="274" r:id="rId7"/>
    <p:sldId id="275" r:id="rId8"/>
    <p:sldId id="256" r:id="rId9"/>
    <p:sldId id="258" r:id="rId10"/>
    <p:sldId id="259" r:id="rId11"/>
    <p:sldId id="260" r:id="rId12"/>
    <p:sldId id="257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9ADEE9F5-BEC9-44EC-A007-F8C32B2A2211}">
          <p14:sldIdLst>
            <p14:sldId id="270"/>
            <p14:sldId id="271"/>
            <p14:sldId id="272"/>
            <p14:sldId id="273"/>
            <p14:sldId id="274"/>
            <p14:sldId id="275"/>
            <p14:sldId id="256"/>
            <p14:sldId id="258"/>
            <p14:sldId id="259"/>
            <p14:sldId id="260"/>
            <p14:sldId id="257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2C085-9327-4C45-A7CF-C78B7AA316E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0031A-76BC-433B-8FED-3E2985C04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51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DFE8A-F7BF-3BE3-4A66-1D5C53DE2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EC9FD6-3516-E46D-07BD-EEA65FD7A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49396B-5DC5-4C57-AA52-7F223274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E25382-2589-7E34-0F2D-54CD0819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5EBE39-69BA-3514-879A-B114B1DD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298D8-4A5D-4CC2-50A4-4F620C06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A3C56A-3CDE-E887-FD0F-4A29D5C37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CCBA45-B996-1F92-6E31-5988D732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6CC1C3-104D-C268-EE1A-0B75662D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3089B-32BC-C666-9175-81F0AEE6C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50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A7B11-4554-8D28-C314-49A04C49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4ACB50-75FE-D4A6-61AE-3FC8DD9DD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44403A-A677-9636-4536-9FC0CCF5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C3C725-0EE9-858F-E12C-A7F27E2B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5C5522-34C1-DF6A-2211-0DAFC32F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36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B826F-7C2C-7AE7-BAD4-D0C1F8DC4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389FC3-49E0-D586-26D2-C6A6D08FA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66E0A7-2468-B231-91E8-C21E6614B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EA83BC-91F3-C469-D7C3-297B2E83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929E87-C026-FEA6-3CBA-3E35C1CD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3A415F-1623-D0EE-332D-E21E3F1F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09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876FC-FA7B-AD12-3BB9-67713940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0998B9-F810-1DDF-D598-0037EDFA5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B04591-872F-7E45-9D99-FC4C53C22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17529D8-292C-D4B5-3238-13A00C6ED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0C6470-936D-BFA7-73A6-D858B3B90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6F02D4-E560-70F7-1460-65CCC150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EAD35C-F8F5-9A14-1C1D-99DD8D76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58D7FEB-A968-102F-C98F-97B2CC3B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9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EF439-0902-A178-A80C-85D466CC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0D9EF4-1427-70B8-AADD-D38DCAC5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CE60F4D-BEB5-C56D-8618-D87E3461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C70DDAD-6BDE-4784-EAA4-2B72F488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06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8C0D1E-EEB7-BE49-02FE-5B74FB2D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294F44-8E3B-A8B8-3A15-3DD2921D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CC4451-8CF8-D7F5-5644-91B0700D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1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2D3D9-F84B-A83F-7E4E-706B41FE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643C18-71F7-0BA5-B46F-71FC5DA10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D23509-822F-7CCA-5DC6-34B5D78EB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143A54-2E06-4C76-E33A-8FF9113E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7FF851-0D11-0D75-4992-D104EFC3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E8B832-22DF-50C8-4B6C-38ADE9C6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555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FC4C4-4011-A89F-8BC8-A3A18F7B3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D9AF853-FC5F-40EE-2B48-66974B1DD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8AFCA0-7B15-2474-D384-D5DC321EE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52B1C8-9506-B010-DE13-8F56E806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5A3518-8FE0-9B19-1D66-8FB56765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E7B183-136C-A699-FD8E-C01C022F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266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8CD20-B5E7-FA47-5634-56AF6BC2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7EAFAC-6A7E-94E8-BD76-0BC200D8A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91FB1-2B09-7391-88F5-ED2CBA20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586589-CD66-42B8-FBC4-5532452A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BAC18A-5D3C-939D-6D34-8FB68347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18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120266-9CDD-BD53-C555-8089D80E9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BF4B96-1238-331A-C2D8-776EA393C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8367B8-481D-8AF2-3C0A-0F4B0272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671BDB-90AE-2B3E-BC1B-8894E007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290F8F-653B-9DC2-D881-378B687FA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699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6A5237-D9C0-C4FE-CB3D-6B08BEBA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CA614B-BC17-5CC4-15EE-3D8D94437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4442E5-3447-37BF-E25F-49EE2A11A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131C5-4BA9-48DD-AF37-EAB090ED1F7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37E0BA-E7BA-A332-FD6A-516E59385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1F78A8-4724-F92A-9CD9-9AEF85A7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24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2.dcc.ufmg.br/livros/algoritmo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02DA2">
                <a:alpha val="100000"/>
              </a:srgbClr>
            </a:gs>
            <a:gs pos="50000">
              <a:srgbClr val="152859">
                <a:alpha val="100000"/>
              </a:srgbClr>
            </a:gs>
            <a:gs pos="100000">
              <a:srgbClr val="06032B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04780" y="-1061292"/>
            <a:ext cx="3261416" cy="3260057"/>
          </a:xfrm>
          <a:custGeom>
            <a:avLst/>
            <a:gdLst/>
            <a:ahLst/>
            <a:cxnLst/>
            <a:rect l="l" t="t" r="r" b="b"/>
            <a:pathLst>
              <a:path w="4892124" h="4890086">
                <a:moveTo>
                  <a:pt x="0" y="0"/>
                </a:moveTo>
                <a:lnTo>
                  <a:pt x="4892124" y="0"/>
                </a:lnTo>
                <a:lnTo>
                  <a:pt x="4892124" y="4890086"/>
                </a:lnTo>
                <a:lnTo>
                  <a:pt x="0" y="4890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  <p:sp>
        <p:nvSpPr>
          <p:cNvPr id="3" name="TextBox 3"/>
          <p:cNvSpPr txBox="1"/>
          <p:nvPr/>
        </p:nvSpPr>
        <p:spPr>
          <a:xfrm>
            <a:off x="2765220" y="2119762"/>
            <a:ext cx="6661561" cy="1773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836"/>
              </a:lnSpc>
            </a:pPr>
            <a:r>
              <a:rPr lang="en-US" sz="6836" b="1" dirty="0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COUTING </a:t>
            </a:r>
          </a:p>
          <a:p>
            <a:pPr algn="ctr">
              <a:lnSpc>
                <a:spcPts val="6836"/>
              </a:lnSpc>
            </a:pPr>
            <a:r>
              <a:rPr lang="en-US" sz="6836" b="1" dirty="0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SORT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65220" y="4089401"/>
            <a:ext cx="6661561" cy="324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559"/>
              </a:lnSpc>
            </a:pPr>
            <a:r>
              <a:rPr lang="en-US" sz="21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Método de ordenação por contagem</a:t>
            </a:r>
          </a:p>
        </p:txBody>
      </p:sp>
    </p:spTree>
    <p:extLst>
      <p:ext uri="{BB962C8B-B14F-4D97-AF65-F5344CB8AC3E}">
        <p14:creationId xmlns:p14="http://schemas.microsoft.com/office/powerpoint/2010/main" val="63408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5" r="-675"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  <p:grpSp>
        <p:nvGrpSpPr>
          <p:cNvPr id="3" name="Group 3"/>
          <p:cNvGrpSpPr/>
          <p:nvPr/>
        </p:nvGrpSpPr>
        <p:grpSpPr>
          <a:xfrm>
            <a:off x="4476343" y="1714500"/>
            <a:ext cx="7029857" cy="4706386"/>
            <a:chOff x="0" y="0"/>
            <a:chExt cx="2777228" cy="18593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7228" cy="1859313"/>
            </a:xfrm>
            <a:custGeom>
              <a:avLst/>
              <a:gdLst/>
              <a:ahLst/>
              <a:cxnLst/>
              <a:rect l="l" t="t" r="r" b="b"/>
              <a:pathLst>
                <a:path w="2777228" h="1859313">
                  <a:moveTo>
                    <a:pt x="73419" y="0"/>
                  </a:moveTo>
                  <a:lnTo>
                    <a:pt x="2703808" y="0"/>
                  </a:lnTo>
                  <a:cubicBezTo>
                    <a:pt x="2723280" y="0"/>
                    <a:pt x="2741955" y="7735"/>
                    <a:pt x="2755723" y="21504"/>
                  </a:cubicBezTo>
                  <a:cubicBezTo>
                    <a:pt x="2769492" y="35273"/>
                    <a:pt x="2777228" y="53947"/>
                    <a:pt x="2777228" y="73419"/>
                  </a:cubicBezTo>
                  <a:lnTo>
                    <a:pt x="2777228" y="1785894"/>
                  </a:lnTo>
                  <a:cubicBezTo>
                    <a:pt x="2777228" y="1826442"/>
                    <a:pt x="2744357" y="1859313"/>
                    <a:pt x="2703808" y="1859313"/>
                  </a:cubicBezTo>
                  <a:lnTo>
                    <a:pt x="73419" y="1859313"/>
                  </a:lnTo>
                  <a:cubicBezTo>
                    <a:pt x="53947" y="1859313"/>
                    <a:pt x="35273" y="1851578"/>
                    <a:pt x="21504" y="1837809"/>
                  </a:cubicBezTo>
                  <a:cubicBezTo>
                    <a:pt x="7735" y="1824040"/>
                    <a:pt x="0" y="1805366"/>
                    <a:pt x="0" y="1785894"/>
                  </a:cubicBezTo>
                  <a:lnTo>
                    <a:pt x="0" y="73419"/>
                  </a:lnTo>
                  <a:cubicBezTo>
                    <a:pt x="0" y="53947"/>
                    <a:pt x="7735" y="35273"/>
                    <a:pt x="21504" y="21504"/>
                  </a:cubicBezTo>
                  <a:cubicBezTo>
                    <a:pt x="35273" y="7735"/>
                    <a:pt x="53947" y="0"/>
                    <a:pt x="734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02DA2">
                    <a:alpha val="100000"/>
                  </a:srgbClr>
                </a:gs>
                <a:gs pos="50000">
                  <a:srgbClr val="152859">
                    <a:alpha val="100000"/>
                  </a:srgbClr>
                </a:gs>
                <a:gs pos="100000">
                  <a:srgbClr val="06032B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77228" cy="1897413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" y="539839"/>
            <a:ext cx="12191999" cy="2057400"/>
            <a:chOff x="0" y="0"/>
            <a:chExt cx="2779302" cy="4781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79302" cy="478118"/>
            </a:xfrm>
            <a:custGeom>
              <a:avLst/>
              <a:gdLst/>
              <a:ahLst/>
              <a:cxnLst/>
              <a:rect l="l" t="t" r="r" b="b"/>
              <a:pathLst>
                <a:path w="2779302" h="478118">
                  <a:moveTo>
                    <a:pt x="43156" y="0"/>
                  </a:moveTo>
                  <a:lnTo>
                    <a:pt x="2736147" y="0"/>
                  </a:lnTo>
                  <a:cubicBezTo>
                    <a:pt x="2759981" y="0"/>
                    <a:pt x="2779302" y="19321"/>
                    <a:pt x="2779302" y="43156"/>
                  </a:cubicBezTo>
                  <a:lnTo>
                    <a:pt x="2779302" y="434962"/>
                  </a:lnTo>
                  <a:cubicBezTo>
                    <a:pt x="2779302" y="458796"/>
                    <a:pt x="2759981" y="478118"/>
                    <a:pt x="2736147" y="478118"/>
                  </a:cubicBezTo>
                  <a:lnTo>
                    <a:pt x="43156" y="478118"/>
                  </a:lnTo>
                  <a:cubicBezTo>
                    <a:pt x="19321" y="478118"/>
                    <a:pt x="0" y="458796"/>
                    <a:pt x="0" y="434962"/>
                  </a:cubicBezTo>
                  <a:lnTo>
                    <a:pt x="0" y="43156"/>
                  </a:lnTo>
                  <a:cubicBezTo>
                    <a:pt x="0" y="19321"/>
                    <a:pt x="19321" y="0"/>
                    <a:pt x="43156" y="0"/>
                  </a:cubicBezTo>
                  <a:close/>
                </a:path>
              </a:pathLst>
            </a:custGeom>
            <a:blipFill>
              <a:blip r:embed="rId3"/>
              <a:stretch>
                <a:fillRect t="-143766" b="-143766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0961" y="3042148"/>
            <a:ext cx="3315627" cy="133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266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Couting sort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73364" y="3632828"/>
            <a:ext cx="6035815" cy="1314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560"/>
              </a:lnSpc>
              <a:spcBef>
                <a:spcPct val="0"/>
              </a:spcBef>
            </a:pPr>
            <a:r>
              <a:rPr lang="en-US" sz="21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Algoritmo de ordenação por contagem, uma técnica de ordenação não comparativa que organiza dados inteiros a partir da contagem de ocorrências.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2571206" y="4712697"/>
            <a:ext cx="843278" cy="234581"/>
            <a:chOff x="0" y="0"/>
            <a:chExt cx="333147" cy="926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3147" cy="92674"/>
            </a:xfrm>
            <a:custGeom>
              <a:avLst/>
              <a:gdLst/>
              <a:ahLst/>
              <a:cxnLst/>
              <a:rect l="l" t="t" r="r" b="b"/>
              <a:pathLst>
                <a:path w="333147" h="92674">
                  <a:moveTo>
                    <a:pt x="0" y="0"/>
                  </a:moveTo>
                  <a:lnTo>
                    <a:pt x="333147" y="0"/>
                  </a:lnTo>
                  <a:lnTo>
                    <a:pt x="333147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33147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3573542" y="4712697"/>
            <a:ext cx="375069" cy="234581"/>
            <a:chOff x="0" y="0"/>
            <a:chExt cx="148175" cy="926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175" cy="92674"/>
            </a:xfrm>
            <a:custGeom>
              <a:avLst/>
              <a:gdLst/>
              <a:ahLst/>
              <a:cxnLst/>
              <a:rect l="l" t="t" r="r" b="b"/>
              <a:pathLst>
                <a:path w="148175" h="92674">
                  <a:moveTo>
                    <a:pt x="0" y="0"/>
                  </a:moveTo>
                  <a:lnTo>
                    <a:pt x="148175" y="0"/>
                  </a:lnTo>
                  <a:lnTo>
                    <a:pt x="148175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8175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840961" y="4712697"/>
            <a:ext cx="1569341" cy="234581"/>
            <a:chOff x="0" y="0"/>
            <a:chExt cx="619987" cy="92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9987" cy="92674"/>
            </a:xfrm>
            <a:custGeom>
              <a:avLst/>
              <a:gdLst/>
              <a:ahLst/>
              <a:cxnLst/>
              <a:rect l="l" t="t" r="r" b="b"/>
              <a:pathLst>
                <a:path w="619987" h="92674">
                  <a:moveTo>
                    <a:pt x="0" y="0"/>
                  </a:moveTo>
                  <a:lnTo>
                    <a:pt x="619987" y="0"/>
                  </a:lnTo>
                  <a:lnTo>
                    <a:pt x="619987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19987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521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5" r="-675"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  <p:grpSp>
        <p:nvGrpSpPr>
          <p:cNvPr id="3" name="Group 3"/>
          <p:cNvGrpSpPr/>
          <p:nvPr/>
        </p:nvGrpSpPr>
        <p:grpSpPr>
          <a:xfrm>
            <a:off x="6348905" y="583581"/>
            <a:ext cx="5157295" cy="5690839"/>
            <a:chOff x="0" y="0"/>
            <a:chExt cx="2037450" cy="22482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37450" cy="2248233"/>
            </a:xfrm>
            <a:custGeom>
              <a:avLst/>
              <a:gdLst/>
              <a:ahLst/>
              <a:cxnLst/>
              <a:rect l="l" t="t" r="r" b="b"/>
              <a:pathLst>
                <a:path w="2037450" h="2248233">
                  <a:moveTo>
                    <a:pt x="51039" y="0"/>
                  </a:moveTo>
                  <a:lnTo>
                    <a:pt x="1986411" y="0"/>
                  </a:lnTo>
                  <a:cubicBezTo>
                    <a:pt x="2014599" y="0"/>
                    <a:pt x="2037450" y="22851"/>
                    <a:pt x="2037450" y="51039"/>
                  </a:cubicBezTo>
                  <a:lnTo>
                    <a:pt x="2037450" y="2197193"/>
                  </a:lnTo>
                  <a:cubicBezTo>
                    <a:pt x="2037450" y="2210730"/>
                    <a:pt x="2032073" y="2223712"/>
                    <a:pt x="2022501" y="2233284"/>
                  </a:cubicBezTo>
                  <a:cubicBezTo>
                    <a:pt x="2012929" y="2242855"/>
                    <a:pt x="1999947" y="2248233"/>
                    <a:pt x="1986411" y="2248233"/>
                  </a:cubicBezTo>
                  <a:lnTo>
                    <a:pt x="51039" y="2248233"/>
                  </a:lnTo>
                  <a:cubicBezTo>
                    <a:pt x="37503" y="2248233"/>
                    <a:pt x="24521" y="2242855"/>
                    <a:pt x="14949" y="2233284"/>
                  </a:cubicBezTo>
                  <a:cubicBezTo>
                    <a:pt x="5377" y="2223712"/>
                    <a:pt x="0" y="2210730"/>
                    <a:pt x="0" y="2197193"/>
                  </a:cubicBezTo>
                  <a:lnTo>
                    <a:pt x="0" y="51039"/>
                  </a:lnTo>
                  <a:cubicBezTo>
                    <a:pt x="0" y="37503"/>
                    <a:pt x="5377" y="24521"/>
                    <a:pt x="14949" y="14949"/>
                  </a:cubicBezTo>
                  <a:cubicBezTo>
                    <a:pt x="24521" y="5377"/>
                    <a:pt x="37503" y="0"/>
                    <a:pt x="510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02DA2">
                    <a:alpha val="100000"/>
                  </a:srgbClr>
                </a:gs>
                <a:gs pos="50000">
                  <a:srgbClr val="152859">
                    <a:alpha val="100000"/>
                  </a:srgbClr>
                </a:gs>
                <a:gs pos="100000">
                  <a:srgbClr val="06032B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37450" cy="22863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06141" y="1073305"/>
            <a:ext cx="4087778" cy="647700"/>
            <a:chOff x="0" y="0"/>
            <a:chExt cx="8175556" cy="12954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295400" cy="1295400"/>
              <a:chOff x="0" y="0"/>
              <a:chExt cx="255881" cy="25588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5881" cy="255881"/>
              </a:xfrm>
              <a:custGeom>
                <a:avLst/>
                <a:gdLst/>
                <a:ahLst/>
                <a:cxnLst/>
                <a:rect l="l" t="t" r="r" b="b"/>
                <a:pathLst>
                  <a:path w="255881" h="255881">
                    <a:moveTo>
                      <a:pt x="0" y="0"/>
                    </a:moveTo>
                    <a:lnTo>
                      <a:pt x="255881" y="0"/>
                    </a:lnTo>
                    <a:lnTo>
                      <a:pt x="255881" y="255881"/>
                    </a:lnTo>
                    <a:lnTo>
                      <a:pt x="0" y="2558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sz="8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55881" cy="29398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773"/>
                  </a:lnSpc>
                </a:pPr>
                <a:endParaRPr sz="800" dirty="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676400" y="-28575"/>
              <a:ext cx="6499156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560"/>
                </a:lnSpc>
                <a:spcBef>
                  <a:spcPct val="0"/>
                </a:spcBef>
              </a:pPr>
              <a:r>
                <a:rPr lang="en-US" sz="213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Cenários mais adequados de uso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16443" y="2134837"/>
            <a:ext cx="3879019" cy="647700"/>
            <a:chOff x="0" y="0"/>
            <a:chExt cx="7758038" cy="12954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295400" cy="1295400"/>
              <a:chOff x="0" y="0"/>
              <a:chExt cx="255881" cy="25588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55881" cy="255881"/>
              </a:xfrm>
              <a:custGeom>
                <a:avLst/>
                <a:gdLst/>
                <a:ahLst/>
                <a:cxnLst/>
                <a:rect l="l" t="t" r="r" b="b"/>
                <a:pathLst>
                  <a:path w="255881" h="255881">
                    <a:moveTo>
                      <a:pt x="0" y="0"/>
                    </a:moveTo>
                    <a:lnTo>
                      <a:pt x="255881" y="0"/>
                    </a:lnTo>
                    <a:lnTo>
                      <a:pt x="255881" y="255881"/>
                    </a:lnTo>
                    <a:lnTo>
                      <a:pt x="0" y="2558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sz="8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55881" cy="29398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773"/>
                  </a:lnSpc>
                </a:pPr>
                <a:endParaRPr sz="800" dirty="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676400" y="-28575"/>
              <a:ext cx="6081638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560"/>
                </a:lnSpc>
                <a:spcBef>
                  <a:spcPct val="0"/>
                </a:spcBef>
              </a:pPr>
              <a:r>
                <a:rPr lang="en-US" sz="213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Principais características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06141" y="3196371"/>
            <a:ext cx="4022219" cy="647700"/>
            <a:chOff x="0" y="0"/>
            <a:chExt cx="8044438" cy="12954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295400" cy="1295400"/>
              <a:chOff x="0" y="0"/>
              <a:chExt cx="255881" cy="25588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55881" cy="255881"/>
              </a:xfrm>
              <a:custGeom>
                <a:avLst/>
                <a:gdLst/>
                <a:ahLst/>
                <a:cxnLst/>
                <a:rect l="l" t="t" r="r" b="b"/>
                <a:pathLst>
                  <a:path w="255881" h="255881">
                    <a:moveTo>
                      <a:pt x="0" y="0"/>
                    </a:moveTo>
                    <a:lnTo>
                      <a:pt x="255881" y="0"/>
                    </a:lnTo>
                    <a:lnTo>
                      <a:pt x="255881" y="255881"/>
                    </a:lnTo>
                    <a:lnTo>
                      <a:pt x="0" y="2558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sz="8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55881" cy="29398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773"/>
                  </a:lnSpc>
                </a:pPr>
                <a:endParaRPr sz="800" dirty="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676400" y="-28575"/>
              <a:ext cx="6368038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560"/>
                </a:lnSpc>
                <a:spcBef>
                  <a:spcPct val="0"/>
                </a:spcBef>
              </a:pPr>
              <a:r>
                <a:rPr lang="en-US" sz="213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Exemplo de funcionamento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16443" y="4256821"/>
            <a:ext cx="4283167" cy="647700"/>
            <a:chOff x="0" y="0"/>
            <a:chExt cx="8566335" cy="12954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295400" cy="1295400"/>
              <a:chOff x="0" y="0"/>
              <a:chExt cx="255881" cy="25588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55881" cy="255881"/>
              </a:xfrm>
              <a:custGeom>
                <a:avLst/>
                <a:gdLst/>
                <a:ahLst/>
                <a:cxnLst/>
                <a:rect l="l" t="t" r="r" b="b"/>
                <a:pathLst>
                  <a:path w="255881" h="255881">
                    <a:moveTo>
                      <a:pt x="0" y="0"/>
                    </a:moveTo>
                    <a:lnTo>
                      <a:pt x="255881" y="0"/>
                    </a:lnTo>
                    <a:lnTo>
                      <a:pt x="255881" y="255881"/>
                    </a:lnTo>
                    <a:lnTo>
                      <a:pt x="0" y="2558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sz="80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255881" cy="29398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773"/>
                  </a:lnSpc>
                </a:pPr>
                <a:endParaRPr sz="800" dirty="0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676400" y="-28575"/>
              <a:ext cx="6889935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560"/>
                </a:lnSpc>
              </a:pPr>
              <a:r>
                <a:rPr lang="en-US" sz="213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Analise de</a:t>
              </a:r>
            </a:p>
            <a:p>
              <a:pPr algn="l">
                <a:lnSpc>
                  <a:spcPts val="2560"/>
                </a:lnSpc>
                <a:spcBef>
                  <a:spcPct val="0"/>
                </a:spcBef>
              </a:pPr>
              <a:r>
                <a:rPr lang="en-US" sz="213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complexidade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85800" y="2834421"/>
            <a:ext cx="5318056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266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grpSp>
        <p:nvGrpSpPr>
          <p:cNvPr id="27" name="Group 27"/>
          <p:cNvGrpSpPr/>
          <p:nvPr/>
        </p:nvGrpSpPr>
        <p:grpSpPr>
          <a:xfrm rot="-10800000">
            <a:off x="3516314" y="3750899"/>
            <a:ext cx="1356944" cy="234581"/>
            <a:chOff x="0" y="0"/>
            <a:chExt cx="536077" cy="9267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6077" cy="92674"/>
            </a:xfrm>
            <a:custGeom>
              <a:avLst/>
              <a:gdLst/>
              <a:ahLst/>
              <a:cxnLst/>
              <a:rect l="l" t="t" r="r" b="b"/>
              <a:pathLst>
                <a:path w="536077" h="92674">
                  <a:moveTo>
                    <a:pt x="0" y="0"/>
                  </a:moveTo>
                  <a:lnTo>
                    <a:pt x="536077" y="0"/>
                  </a:lnTo>
                  <a:lnTo>
                    <a:pt x="536077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36077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30" name="Group 30"/>
          <p:cNvGrpSpPr/>
          <p:nvPr/>
        </p:nvGrpSpPr>
        <p:grpSpPr>
          <a:xfrm rot="-10800000">
            <a:off x="5129203" y="3750899"/>
            <a:ext cx="603535" cy="234581"/>
            <a:chOff x="0" y="0"/>
            <a:chExt cx="238433" cy="9267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8433" cy="92674"/>
            </a:xfrm>
            <a:custGeom>
              <a:avLst/>
              <a:gdLst/>
              <a:ahLst/>
              <a:cxnLst/>
              <a:rect l="l" t="t" r="r" b="b"/>
              <a:pathLst>
                <a:path w="238433" h="92674">
                  <a:moveTo>
                    <a:pt x="0" y="0"/>
                  </a:moveTo>
                  <a:lnTo>
                    <a:pt x="238433" y="0"/>
                  </a:lnTo>
                  <a:lnTo>
                    <a:pt x="238433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38433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33" name="Group 33"/>
          <p:cNvGrpSpPr/>
          <p:nvPr/>
        </p:nvGrpSpPr>
        <p:grpSpPr>
          <a:xfrm rot="-10800000">
            <a:off x="732126" y="3750899"/>
            <a:ext cx="2525274" cy="234581"/>
            <a:chOff x="0" y="0"/>
            <a:chExt cx="997639" cy="9267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97639" cy="92674"/>
            </a:xfrm>
            <a:custGeom>
              <a:avLst/>
              <a:gdLst/>
              <a:ahLst/>
              <a:cxnLst/>
              <a:rect l="l" t="t" r="r" b="b"/>
              <a:pathLst>
                <a:path w="997639" h="92674">
                  <a:moveTo>
                    <a:pt x="0" y="0"/>
                  </a:moveTo>
                  <a:lnTo>
                    <a:pt x="997639" y="0"/>
                  </a:lnTo>
                  <a:lnTo>
                    <a:pt x="997639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97639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16443" y="5317271"/>
            <a:ext cx="4283167" cy="647700"/>
            <a:chOff x="0" y="0"/>
            <a:chExt cx="8566335" cy="12954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1295400" cy="1295400"/>
              <a:chOff x="0" y="0"/>
              <a:chExt cx="255881" cy="25588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55881" cy="255881"/>
              </a:xfrm>
              <a:custGeom>
                <a:avLst/>
                <a:gdLst/>
                <a:ahLst/>
                <a:cxnLst/>
                <a:rect l="l" t="t" r="r" b="b"/>
                <a:pathLst>
                  <a:path w="255881" h="255881">
                    <a:moveTo>
                      <a:pt x="0" y="0"/>
                    </a:moveTo>
                    <a:lnTo>
                      <a:pt x="255881" y="0"/>
                    </a:lnTo>
                    <a:lnTo>
                      <a:pt x="255881" y="255881"/>
                    </a:lnTo>
                    <a:lnTo>
                      <a:pt x="0" y="2558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sz="800" dirty="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255881" cy="29398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773"/>
                  </a:lnSpc>
                </a:pPr>
                <a:endParaRPr sz="800" dirty="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676400" y="-28575"/>
              <a:ext cx="6889935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560"/>
                </a:lnSpc>
                <a:spcBef>
                  <a:spcPct val="0"/>
                </a:spcBef>
              </a:pPr>
              <a:r>
                <a:rPr lang="en-US" sz="213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Referências</a:t>
              </a:r>
            </a:p>
            <a:p>
              <a:pPr algn="l">
                <a:lnSpc>
                  <a:spcPts val="2560"/>
                </a:lnSpc>
                <a:spcBef>
                  <a:spcPct val="0"/>
                </a:spcBef>
              </a:pPr>
              <a:r>
                <a:rPr lang="en-US" sz="213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consultadas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588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5" r="-675"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6149621"/>
            <a:ext cx="12192000" cy="708379"/>
            <a:chOff x="0" y="0"/>
            <a:chExt cx="4816593" cy="2798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9853"/>
            </a:xfrm>
            <a:custGeom>
              <a:avLst/>
              <a:gdLst/>
              <a:ahLst/>
              <a:cxnLst/>
              <a:rect l="l" t="t" r="r" b="b"/>
              <a:pathLst>
                <a:path w="4816592" h="279853">
                  <a:moveTo>
                    <a:pt x="0" y="0"/>
                  </a:moveTo>
                  <a:lnTo>
                    <a:pt x="4816592" y="0"/>
                  </a:lnTo>
                  <a:lnTo>
                    <a:pt x="4816592" y="279853"/>
                  </a:lnTo>
                  <a:lnTo>
                    <a:pt x="0" y="279853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179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55386" y="1787172"/>
            <a:ext cx="908975" cy="234581"/>
            <a:chOff x="0" y="0"/>
            <a:chExt cx="359101" cy="926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9101" cy="92674"/>
            </a:xfrm>
            <a:custGeom>
              <a:avLst/>
              <a:gdLst/>
              <a:ahLst/>
              <a:cxnLst/>
              <a:rect l="l" t="t" r="r" b="b"/>
              <a:pathLst>
                <a:path w="359101" h="92674">
                  <a:moveTo>
                    <a:pt x="0" y="0"/>
                  </a:moveTo>
                  <a:lnTo>
                    <a:pt x="359101" y="0"/>
                  </a:lnTo>
                  <a:lnTo>
                    <a:pt x="359101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9101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79648" y="1787172"/>
            <a:ext cx="404289" cy="234581"/>
            <a:chOff x="0" y="0"/>
            <a:chExt cx="159719" cy="926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719" cy="92674"/>
            </a:xfrm>
            <a:custGeom>
              <a:avLst/>
              <a:gdLst/>
              <a:ahLst/>
              <a:cxnLst/>
              <a:rect l="l" t="t" r="r" b="b"/>
              <a:pathLst>
                <a:path w="159719" h="92674">
                  <a:moveTo>
                    <a:pt x="0" y="0"/>
                  </a:moveTo>
                  <a:lnTo>
                    <a:pt x="159719" y="0"/>
                  </a:lnTo>
                  <a:lnTo>
                    <a:pt x="159719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719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37800" y="1787172"/>
            <a:ext cx="1691603" cy="234581"/>
            <a:chOff x="0" y="0"/>
            <a:chExt cx="668288" cy="926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8288" cy="92674"/>
            </a:xfrm>
            <a:custGeom>
              <a:avLst/>
              <a:gdLst/>
              <a:ahLst/>
              <a:cxnLst/>
              <a:rect l="l" t="t" r="r" b="b"/>
              <a:pathLst>
                <a:path w="668288" h="92674">
                  <a:moveTo>
                    <a:pt x="0" y="0"/>
                  </a:moveTo>
                  <a:lnTo>
                    <a:pt x="668288" y="0"/>
                  </a:lnTo>
                  <a:lnTo>
                    <a:pt x="668288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68288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5800" y="2669821"/>
            <a:ext cx="5410200" cy="299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560"/>
              </a:lnSpc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Quando usar:</a:t>
            </a:r>
          </a:p>
          <a:p>
            <a:pPr marL="460610" lvl="1" indent="-230305" algn="l">
              <a:lnSpc>
                <a:spcPts val="256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Dados inteiros, não negativos, com intervalo de valores limitado.</a:t>
            </a:r>
          </a:p>
          <a:p>
            <a:pPr algn="l">
              <a:lnSpc>
                <a:spcPts val="2560"/>
              </a:lnSpc>
              <a:spcBef>
                <a:spcPct val="0"/>
              </a:spcBef>
            </a:pPr>
            <a:endParaRPr lang="en-US" sz="2133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Por que é eficiente:</a:t>
            </a:r>
          </a:p>
          <a:p>
            <a:pPr marL="460610" lvl="1" indent="-230305" algn="l">
              <a:lnSpc>
                <a:spcPts val="256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Usa os valores como índices em um vetor auxiliar, evitando comparações diretas.</a:t>
            </a:r>
          </a:p>
          <a:p>
            <a:pPr algn="l">
              <a:lnSpc>
                <a:spcPts val="2560"/>
              </a:lnSpc>
              <a:spcBef>
                <a:spcPct val="0"/>
              </a:spcBef>
            </a:pPr>
            <a:endParaRPr lang="en-US" sz="2133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85800" y="934103"/>
            <a:ext cx="6131973" cy="133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266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Cenários mais adequados de uso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17773" y="2669821"/>
            <a:ext cx="4688427" cy="2327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560"/>
              </a:lnSpc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Exemplos práticos:</a:t>
            </a:r>
          </a:p>
          <a:p>
            <a:pPr marL="460610" lvl="1" indent="-230305" algn="l">
              <a:lnSpc>
                <a:spcPts val="256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Idades (0 a 100)</a:t>
            </a:r>
          </a:p>
          <a:p>
            <a:pPr marL="460610" lvl="1" indent="-230305" algn="l">
              <a:lnSpc>
                <a:spcPts val="256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Notas em avaliações (0 a 10)</a:t>
            </a:r>
          </a:p>
          <a:p>
            <a:pPr marL="460610" lvl="1" indent="-230305" algn="l">
              <a:lnSpc>
                <a:spcPts val="256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Número de filhos por família</a:t>
            </a:r>
          </a:p>
          <a:p>
            <a:pPr marL="460610" lvl="1" indent="-230305" algn="l">
              <a:lnSpc>
                <a:spcPts val="2560"/>
              </a:lnSpc>
              <a:spcBef>
                <a:spcPct val="0"/>
              </a:spcBef>
              <a:buFont typeface="Arial"/>
              <a:buChar char="•"/>
            </a:pPr>
            <a:r>
              <a:rPr lang="en-US" sz="21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Processamento em tempo real com baixa variabilidade</a:t>
            </a:r>
          </a:p>
          <a:p>
            <a:pPr algn="l">
              <a:lnSpc>
                <a:spcPts val="2560"/>
              </a:lnSpc>
              <a:spcBef>
                <a:spcPct val="0"/>
              </a:spcBef>
            </a:pPr>
            <a:endParaRPr lang="en-US" sz="2133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4357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02DA2">
                <a:alpha val="100000"/>
              </a:srgbClr>
            </a:gs>
            <a:gs pos="50000">
              <a:srgbClr val="152859">
                <a:alpha val="100000"/>
              </a:srgbClr>
            </a:gs>
            <a:gs pos="100000">
              <a:srgbClr val="06032B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178" y="3614421"/>
            <a:ext cx="3635726" cy="3243579"/>
            <a:chOff x="0" y="0"/>
            <a:chExt cx="1436336" cy="1452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6336" cy="1452715"/>
            </a:xfrm>
            <a:custGeom>
              <a:avLst/>
              <a:gdLst/>
              <a:ahLst/>
              <a:cxnLst/>
              <a:rect l="l" t="t" r="r" b="b"/>
              <a:pathLst>
                <a:path w="1436336" h="1452715">
                  <a:moveTo>
                    <a:pt x="106470" y="0"/>
                  </a:moveTo>
                  <a:lnTo>
                    <a:pt x="1329866" y="0"/>
                  </a:lnTo>
                  <a:cubicBezTo>
                    <a:pt x="1358104" y="0"/>
                    <a:pt x="1385185" y="11217"/>
                    <a:pt x="1405152" y="31184"/>
                  </a:cubicBezTo>
                  <a:cubicBezTo>
                    <a:pt x="1425119" y="51151"/>
                    <a:pt x="1436336" y="78232"/>
                    <a:pt x="1436336" y="106470"/>
                  </a:cubicBezTo>
                  <a:lnTo>
                    <a:pt x="1436336" y="1346245"/>
                  </a:lnTo>
                  <a:cubicBezTo>
                    <a:pt x="1436336" y="1405047"/>
                    <a:pt x="1388668" y="1452715"/>
                    <a:pt x="1329866" y="1452715"/>
                  </a:cubicBezTo>
                  <a:lnTo>
                    <a:pt x="106470" y="1452715"/>
                  </a:lnTo>
                  <a:cubicBezTo>
                    <a:pt x="47668" y="1452715"/>
                    <a:pt x="0" y="1405047"/>
                    <a:pt x="0" y="1346245"/>
                  </a:cubicBezTo>
                  <a:lnTo>
                    <a:pt x="0" y="106470"/>
                  </a:lnTo>
                  <a:cubicBezTo>
                    <a:pt x="0" y="47668"/>
                    <a:pt x="47668" y="0"/>
                    <a:pt x="1064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6336" cy="1490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78582" y="3613834"/>
            <a:ext cx="3635726" cy="3244166"/>
            <a:chOff x="0" y="0"/>
            <a:chExt cx="1436336" cy="14529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6336" cy="1452947"/>
            </a:xfrm>
            <a:custGeom>
              <a:avLst/>
              <a:gdLst/>
              <a:ahLst/>
              <a:cxnLst/>
              <a:rect l="l" t="t" r="r" b="b"/>
              <a:pathLst>
                <a:path w="1436336" h="1452947">
                  <a:moveTo>
                    <a:pt x="106470" y="0"/>
                  </a:moveTo>
                  <a:lnTo>
                    <a:pt x="1329866" y="0"/>
                  </a:lnTo>
                  <a:cubicBezTo>
                    <a:pt x="1358104" y="0"/>
                    <a:pt x="1385185" y="11217"/>
                    <a:pt x="1405152" y="31184"/>
                  </a:cubicBezTo>
                  <a:cubicBezTo>
                    <a:pt x="1425119" y="51151"/>
                    <a:pt x="1436336" y="78232"/>
                    <a:pt x="1436336" y="106470"/>
                  </a:cubicBezTo>
                  <a:lnTo>
                    <a:pt x="1436336" y="1346477"/>
                  </a:lnTo>
                  <a:cubicBezTo>
                    <a:pt x="1436336" y="1405279"/>
                    <a:pt x="1388668" y="1452947"/>
                    <a:pt x="1329866" y="1452947"/>
                  </a:cubicBezTo>
                  <a:lnTo>
                    <a:pt x="106470" y="1452947"/>
                  </a:lnTo>
                  <a:cubicBezTo>
                    <a:pt x="47668" y="1452947"/>
                    <a:pt x="0" y="1405279"/>
                    <a:pt x="0" y="1346477"/>
                  </a:cubicBezTo>
                  <a:lnTo>
                    <a:pt x="0" y="106470"/>
                  </a:lnTo>
                  <a:cubicBezTo>
                    <a:pt x="0" y="47668"/>
                    <a:pt x="47668" y="0"/>
                    <a:pt x="1064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6336" cy="14910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16097" y="3613835"/>
            <a:ext cx="3635726" cy="3243579"/>
            <a:chOff x="0" y="0"/>
            <a:chExt cx="1436336" cy="14529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6336" cy="1452947"/>
            </a:xfrm>
            <a:custGeom>
              <a:avLst/>
              <a:gdLst/>
              <a:ahLst/>
              <a:cxnLst/>
              <a:rect l="l" t="t" r="r" b="b"/>
              <a:pathLst>
                <a:path w="1436336" h="1452947">
                  <a:moveTo>
                    <a:pt x="106470" y="0"/>
                  </a:moveTo>
                  <a:lnTo>
                    <a:pt x="1329866" y="0"/>
                  </a:lnTo>
                  <a:cubicBezTo>
                    <a:pt x="1358104" y="0"/>
                    <a:pt x="1385185" y="11217"/>
                    <a:pt x="1405152" y="31184"/>
                  </a:cubicBezTo>
                  <a:cubicBezTo>
                    <a:pt x="1425119" y="51151"/>
                    <a:pt x="1436336" y="78232"/>
                    <a:pt x="1436336" y="106470"/>
                  </a:cubicBezTo>
                  <a:lnTo>
                    <a:pt x="1436336" y="1346477"/>
                  </a:lnTo>
                  <a:cubicBezTo>
                    <a:pt x="1436336" y="1405279"/>
                    <a:pt x="1388668" y="1452947"/>
                    <a:pt x="1329866" y="1452947"/>
                  </a:cubicBezTo>
                  <a:lnTo>
                    <a:pt x="106470" y="1452947"/>
                  </a:lnTo>
                  <a:cubicBezTo>
                    <a:pt x="47668" y="1452947"/>
                    <a:pt x="0" y="1405279"/>
                    <a:pt x="0" y="1346477"/>
                  </a:cubicBezTo>
                  <a:lnTo>
                    <a:pt x="0" y="106470"/>
                  </a:lnTo>
                  <a:cubicBezTo>
                    <a:pt x="0" y="47668"/>
                    <a:pt x="47668" y="0"/>
                    <a:pt x="1064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6336" cy="14910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278138" y="4055395"/>
            <a:ext cx="3635726" cy="32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sz="2133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Reconstrói vetor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01038" y="4703095"/>
            <a:ext cx="3195696" cy="628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Usa a contagem de ocorrências.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2357" y="4055395"/>
            <a:ext cx="3531368" cy="666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sz="2133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Não comparativo</a:t>
            </a:r>
          </a:p>
          <a:p>
            <a:pPr algn="ctr">
              <a:lnSpc>
                <a:spcPts val="2560"/>
              </a:lnSpc>
              <a:spcBef>
                <a:spcPct val="0"/>
              </a:spcBef>
            </a:pPr>
            <a:endParaRPr lang="en-US" sz="2133" b="1" dirty="0">
              <a:solidFill>
                <a:srgbClr val="16028B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20119" y="4703095"/>
            <a:ext cx="3275843" cy="628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Ordena sem comparar elementos.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36052" y="4055395"/>
            <a:ext cx="3070149" cy="32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sz="2133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Estável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6052" y="4217320"/>
            <a:ext cx="3070149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0"/>
              </a:lnSpc>
              <a:spcBef>
                <a:spcPct val="0"/>
              </a:spcBef>
            </a:pPr>
            <a:endParaRPr sz="800" dirty="0"/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Mantém a ordem relativa de elementos iguais.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5800" y="1537166"/>
            <a:ext cx="7713085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26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Principais características</a:t>
            </a:r>
          </a:p>
        </p:txBody>
      </p:sp>
      <p:grpSp>
        <p:nvGrpSpPr>
          <p:cNvPr id="18" name="Group 18"/>
          <p:cNvGrpSpPr/>
          <p:nvPr/>
        </p:nvGrpSpPr>
        <p:grpSpPr>
          <a:xfrm rot="-10800000">
            <a:off x="2810008" y="2801404"/>
            <a:ext cx="1035286" cy="234581"/>
            <a:chOff x="0" y="0"/>
            <a:chExt cx="409002" cy="9267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9002" cy="92674"/>
            </a:xfrm>
            <a:custGeom>
              <a:avLst/>
              <a:gdLst/>
              <a:ahLst/>
              <a:cxnLst/>
              <a:rect l="l" t="t" r="r" b="b"/>
              <a:pathLst>
                <a:path w="409002" h="92674">
                  <a:moveTo>
                    <a:pt x="0" y="0"/>
                  </a:moveTo>
                  <a:lnTo>
                    <a:pt x="409002" y="0"/>
                  </a:lnTo>
                  <a:lnTo>
                    <a:pt x="409002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09002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21" name="Group 21"/>
          <p:cNvGrpSpPr/>
          <p:nvPr/>
        </p:nvGrpSpPr>
        <p:grpSpPr>
          <a:xfrm rot="-10800000">
            <a:off x="4040569" y="2801404"/>
            <a:ext cx="460469" cy="234581"/>
            <a:chOff x="0" y="0"/>
            <a:chExt cx="181914" cy="926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1914" cy="92674"/>
            </a:xfrm>
            <a:custGeom>
              <a:avLst/>
              <a:gdLst/>
              <a:ahLst/>
              <a:cxnLst/>
              <a:rect l="l" t="t" r="r" b="b"/>
              <a:pathLst>
                <a:path w="181914" h="92674">
                  <a:moveTo>
                    <a:pt x="0" y="0"/>
                  </a:moveTo>
                  <a:lnTo>
                    <a:pt x="181914" y="0"/>
                  </a:lnTo>
                  <a:lnTo>
                    <a:pt x="181914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81914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24" name="Group 24"/>
          <p:cNvGrpSpPr/>
          <p:nvPr/>
        </p:nvGrpSpPr>
        <p:grpSpPr>
          <a:xfrm rot="-10800000">
            <a:off x="685800" y="2801404"/>
            <a:ext cx="1926669" cy="234581"/>
            <a:chOff x="0" y="0"/>
            <a:chExt cx="761153" cy="9267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61153" cy="92674"/>
            </a:xfrm>
            <a:custGeom>
              <a:avLst/>
              <a:gdLst/>
              <a:ahLst/>
              <a:cxnLst/>
              <a:rect l="l" t="t" r="r" b="b"/>
              <a:pathLst>
                <a:path w="761153" h="92674">
                  <a:moveTo>
                    <a:pt x="0" y="0"/>
                  </a:moveTo>
                  <a:lnTo>
                    <a:pt x="761153" y="0"/>
                  </a:lnTo>
                  <a:lnTo>
                    <a:pt x="761153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61153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27" name="Group 27"/>
          <p:cNvGrpSpPr/>
          <p:nvPr/>
        </p:nvGrpSpPr>
        <p:grpSpPr>
          <a:xfrm rot="-5400000">
            <a:off x="5753100" y="419100"/>
            <a:ext cx="685800" cy="12192000"/>
            <a:chOff x="0" y="0"/>
            <a:chExt cx="270933" cy="481659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0933" cy="4816592"/>
            </a:xfrm>
            <a:custGeom>
              <a:avLst/>
              <a:gdLst/>
              <a:ahLst/>
              <a:cxnLst/>
              <a:rect l="l" t="t" r="r" b="b"/>
              <a:pathLst>
                <a:path w="270933" h="4816592">
                  <a:moveTo>
                    <a:pt x="0" y="0"/>
                  </a:moveTo>
                  <a:lnTo>
                    <a:pt x="270933" y="0"/>
                  </a:lnTo>
                  <a:lnTo>
                    <a:pt x="27093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3922C0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70933" cy="4854693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800" dirty="0"/>
            </a:p>
          </p:txBody>
        </p:sp>
      </p:grpSp>
      <p:sp>
        <p:nvSpPr>
          <p:cNvPr id="30" name="Freeform 30"/>
          <p:cNvSpPr/>
          <p:nvPr/>
        </p:nvSpPr>
        <p:spPr>
          <a:xfrm>
            <a:off x="11087707" y="-1093436"/>
            <a:ext cx="3261416" cy="3260057"/>
          </a:xfrm>
          <a:custGeom>
            <a:avLst/>
            <a:gdLst/>
            <a:ahLst/>
            <a:cxnLst/>
            <a:rect l="l" t="t" r="r" b="b"/>
            <a:pathLst>
              <a:path w="4892124" h="4890086">
                <a:moveTo>
                  <a:pt x="0" y="0"/>
                </a:moveTo>
                <a:lnTo>
                  <a:pt x="4892125" y="0"/>
                </a:lnTo>
                <a:lnTo>
                  <a:pt x="4892125" y="4890086"/>
                </a:lnTo>
                <a:lnTo>
                  <a:pt x="0" y="4890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39734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5" r="-675"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6149621"/>
            <a:ext cx="12192000" cy="708379"/>
            <a:chOff x="0" y="0"/>
            <a:chExt cx="4816593" cy="2798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9853"/>
            </a:xfrm>
            <a:custGeom>
              <a:avLst/>
              <a:gdLst/>
              <a:ahLst/>
              <a:cxnLst/>
              <a:rect l="l" t="t" r="r" b="b"/>
              <a:pathLst>
                <a:path w="4816592" h="279853">
                  <a:moveTo>
                    <a:pt x="0" y="0"/>
                  </a:moveTo>
                  <a:lnTo>
                    <a:pt x="4816592" y="0"/>
                  </a:lnTo>
                  <a:lnTo>
                    <a:pt x="4816592" y="279853"/>
                  </a:lnTo>
                  <a:lnTo>
                    <a:pt x="0" y="279853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179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77192" y="1173570"/>
            <a:ext cx="4229009" cy="5003990"/>
            <a:chOff x="0" y="0"/>
            <a:chExt cx="812800" cy="9617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961749"/>
            </a:xfrm>
            <a:custGeom>
              <a:avLst/>
              <a:gdLst/>
              <a:ahLst/>
              <a:cxnLst/>
              <a:rect l="l" t="t" r="r" b="b"/>
              <a:pathLst>
                <a:path w="812800" h="961749">
                  <a:moveTo>
                    <a:pt x="122045" y="0"/>
                  </a:moveTo>
                  <a:lnTo>
                    <a:pt x="690755" y="0"/>
                  </a:lnTo>
                  <a:cubicBezTo>
                    <a:pt x="723124" y="0"/>
                    <a:pt x="754166" y="12858"/>
                    <a:pt x="777054" y="35746"/>
                  </a:cubicBezTo>
                  <a:cubicBezTo>
                    <a:pt x="799942" y="58634"/>
                    <a:pt x="812800" y="89676"/>
                    <a:pt x="812800" y="122045"/>
                  </a:cubicBezTo>
                  <a:lnTo>
                    <a:pt x="812800" y="839704"/>
                  </a:lnTo>
                  <a:cubicBezTo>
                    <a:pt x="812800" y="872072"/>
                    <a:pt x="799942" y="903115"/>
                    <a:pt x="777054" y="926002"/>
                  </a:cubicBezTo>
                  <a:cubicBezTo>
                    <a:pt x="754166" y="948890"/>
                    <a:pt x="723124" y="961749"/>
                    <a:pt x="690755" y="961749"/>
                  </a:cubicBezTo>
                  <a:lnTo>
                    <a:pt x="122045" y="961749"/>
                  </a:lnTo>
                  <a:cubicBezTo>
                    <a:pt x="89676" y="961749"/>
                    <a:pt x="58634" y="948890"/>
                    <a:pt x="35746" y="926002"/>
                  </a:cubicBezTo>
                  <a:cubicBezTo>
                    <a:pt x="12858" y="903115"/>
                    <a:pt x="0" y="872072"/>
                    <a:pt x="0" y="839704"/>
                  </a:cubicBezTo>
                  <a:lnTo>
                    <a:pt x="0" y="122045"/>
                  </a:lnTo>
                  <a:cubicBezTo>
                    <a:pt x="0" y="89676"/>
                    <a:pt x="12858" y="58634"/>
                    <a:pt x="35746" y="35746"/>
                  </a:cubicBezTo>
                  <a:cubicBezTo>
                    <a:pt x="58634" y="12858"/>
                    <a:pt x="89676" y="0"/>
                    <a:pt x="122045" y="0"/>
                  </a:cubicBezTo>
                  <a:close/>
                </a:path>
              </a:pathLst>
            </a:custGeom>
            <a:blipFill>
              <a:blip r:embed="rId3"/>
              <a:stretch>
                <a:fillRect l="-38716" r="-38716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92557" y="685800"/>
            <a:ext cx="908975" cy="234581"/>
            <a:chOff x="0" y="0"/>
            <a:chExt cx="359101" cy="926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101" cy="92674"/>
            </a:xfrm>
            <a:custGeom>
              <a:avLst/>
              <a:gdLst/>
              <a:ahLst/>
              <a:cxnLst/>
              <a:rect l="l" t="t" r="r" b="b"/>
              <a:pathLst>
                <a:path w="359101" h="92674">
                  <a:moveTo>
                    <a:pt x="0" y="0"/>
                  </a:moveTo>
                  <a:lnTo>
                    <a:pt x="359101" y="0"/>
                  </a:lnTo>
                  <a:lnTo>
                    <a:pt x="359101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59101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716818" y="685800"/>
            <a:ext cx="404289" cy="234581"/>
            <a:chOff x="0" y="0"/>
            <a:chExt cx="159719" cy="926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9719" cy="92674"/>
            </a:xfrm>
            <a:custGeom>
              <a:avLst/>
              <a:gdLst/>
              <a:ahLst/>
              <a:cxnLst/>
              <a:rect l="l" t="t" r="r" b="b"/>
              <a:pathLst>
                <a:path w="159719" h="92674">
                  <a:moveTo>
                    <a:pt x="0" y="0"/>
                  </a:moveTo>
                  <a:lnTo>
                    <a:pt x="159719" y="0"/>
                  </a:lnTo>
                  <a:lnTo>
                    <a:pt x="159719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9719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74971" y="685800"/>
            <a:ext cx="1691603" cy="234581"/>
            <a:chOff x="0" y="0"/>
            <a:chExt cx="668288" cy="926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8288" cy="92674"/>
            </a:xfrm>
            <a:custGeom>
              <a:avLst/>
              <a:gdLst/>
              <a:ahLst/>
              <a:cxnLst/>
              <a:rect l="l" t="t" r="r" b="b"/>
              <a:pathLst>
                <a:path w="668288" h="92674">
                  <a:moveTo>
                    <a:pt x="0" y="0"/>
                  </a:moveTo>
                  <a:lnTo>
                    <a:pt x="668288" y="0"/>
                  </a:lnTo>
                  <a:lnTo>
                    <a:pt x="668288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68288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5801" y="2743200"/>
            <a:ext cx="5128363" cy="133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266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Exemplo de funcionamento</a:t>
            </a:r>
          </a:p>
        </p:txBody>
      </p:sp>
    </p:spTree>
    <p:extLst>
      <p:ext uri="{BB962C8B-B14F-4D97-AF65-F5344CB8AC3E}">
        <p14:creationId xmlns:p14="http://schemas.microsoft.com/office/powerpoint/2010/main" val="390202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2F032-D769-B3E9-6BC3-5491BD9FD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138"/>
            <a:ext cx="9144000" cy="1049337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Começamos o </a:t>
            </a:r>
            <a:r>
              <a:rPr lang="pt-BR" sz="4000" dirty="0" err="1"/>
              <a:t>counting</a:t>
            </a:r>
            <a:r>
              <a:rPr lang="pt-BR" sz="4000" dirty="0"/>
              <a:t> </a:t>
            </a:r>
            <a:r>
              <a:rPr lang="pt-BR" sz="4000" dirty="0" err="1"/>
              <a:t>sort</a:t>
            </a:r>
            <a:r>
              <a:rPr lang="pt-BR" sz="4000" dirty="0"/>
              <a:t> usando 3 </a:t>
            </a:r>
            <a:r>
              <a:rPr lang="pt-BR" sz="4000" dirty="0" err="1"/>
              <a:t>arrays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D4464F-A395-8F14-759A-308E0F22D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218" y="1158413"/>
            <a:ext cx="9144000" cy="36576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</a:t>
            </a:r>
            <a:r>
              <a:rPr lang="pt-BR" dirty="0" err="1"/>
              <a:t>array</a:t>
            </a:r>
            <a:r>
              <a:rPr lang="pt-BR" dirty="0"/>
              <a:t> desordenado que queremos ordenar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BA72906-4C24-EB0A-D0C4-CA7B9351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863862"/>
              </p:ext>
            </p:extLst>
          </p:nvPr>
        </p:nvGraphicFramePr>
        <p:xfrm>
          <a:off x="1940561" y="160020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DFBE7B9-C883-671F-66DF-22FD00045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543564"/>
              </p:ext>
            </p:extLst>
          </p:nvPr>
        </p:nvGraphicFramePr>
        <p:xfrm>
          <a:off x="7580377" y="160528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280F817A-C053-B73F-60E2-38661C5C295F}"/>
              </a:ext>
            </a:extLst>
          </p:cNvPr>
          <p:cNvSpPr/>
          <p:nvPr/>
        </p:nvSpPr>
        <p:spPr>
          <a:xfrm>
            <a:off x="1609344" y="2582672"/>
            <a:ext cx="8339328" cy="4754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 </a:t>
            </a:r>
            <a:r>
              <a:rPr lang="pt-BR" dirty="0" err="1">
                <a:solidFill>
                  <a:schemeClr val="tx1"/>
                </a:solidFill>
              </a:rPr>
              <a:t>array</a:t>
            </a:r>
            <a:r>
              <a:rPr lang="pt-BR" dirty="0">
                <a:solidFill>
                  <a:schemeClr val="tx1"/>
                </a:solidFill>
              </a:rPr>
              <a:t> C de contagem que vai nos auxiliar 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A538C95-A873-DFBF-7583-962E57FFF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60688"/>
              </p:ext>
            </p:extLst>
          </p:nvPr>
        </p:nvGraphicFramePr>
        <p:xfrm>
          <a:off x="2106815" y="1956262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9910A7F-E076-E42A-8FA6-98B505981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911322"/>
              </p:ext>
            </p:extLst>
          </p:nvPr>
        </p:nvGraphicFramePr>
        <p:xfrm>
          <a:off x="7843517" y="1975519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346A2BB-C9EA-A448-5965-B7C1E50E6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920252"/>
              </p:ext>
            </p:extLst>
          </p:nvPr>
        </p:nvGraphicFramePr>
        <p:xfrm>
          <a:off x="1940562" y="3356852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0AAC122-1093-5298-AFB1-B3A23B3AF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89172"/>
              </p:ext>
            </p:extLst>
          </p:nvPr>
        </p:nvGraphicFramePr>
        <p:xfrm>
          <a:off x="2014453" y="376447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2" name="Retângulo 11">
            <a:extLst>
              <a:ext uri="{FF2B5EF4-FFF2-40B4-BE49-F238E27FC236}">
                <a16:creationId xmlns:a16="http://schemas.microsoft.com/office/drawing/2014/main" id="{4017292F-818B-E798-219C-F8CC94464C7F}"/>
              </a:ext>
            </a:extLst>
          </p:cNvPr>
          <p:cNvSpPr/>
          <p:nvPr/>
        </p:nvSpPr>
        <p:spPr>
          <a:xfrm>
            <a:off x="1609345" y="4179639"/>
            <a:ext cx="8339328" cy="4754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array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 que vai ser o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array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ordenado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A6EDD28-17E6-60E6-0EC3-AB7EE3478D97}"/>
              </a:ext>
            </a:extLst>
          </p:cNvPr>
          <p:cNvSpPr/>
          <p:nvPr/>
        </p:nvSpPr>
        <p:spPr>
          <a:xfrm>
            <a:off x="931579" y="148312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7B0FFEE-DE5E-7B1A-EA2A-87F64EACC3E2}"/>
              </a:ext>
            </a:extLst>
          </p:cNvPr>
          <p:cNvSpPr/>
          <p:nvPr/>
        </p:nvSpPr>
        <p:spPr>
          <a:xfrm>
            <a:off x="925852" y="5055611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1685150-FE45-EA42-CCB8-8A6CEEE5984F}"/>
              </a:ext>
            </a:extLst>
          </p:cNvPr>
          <p:cNvSpPr/>
          <p:nvPr/>
        </p:nvSpPr>
        <p:spPr>
          <a:xfrm>
            <a:off x="931579" y="3256552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C101CA08-82F2-0E5C-8204-7AD48F373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169951"/>
              </p:ext>
            </p:extLst>
          </p:nvPr>
        </p:nvGraphicFramePr>
        <p:xfrm>
          <a:off x="1940562" y="513213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BC06E3A9-6DD8-3FBC-EDC9-8C32C7A7D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56803"/>
              </p:ext>
            </p:extLst>
          </p:nvPr>
        </p:nvGraphicFramePr>
        <p:xfrm>
          <a:off x="7524126" y="513213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3E872CC5-7D67-A172-04DD-9B97F6246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26026"/>
              </p:ext>
            </p:extLst>
          </p:nvPr>
        </p:nvGraphicFramePr>
        <p:xfrm>
          <a:off x="2106815" y="5514167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95EE0464-C6D9-7805-B373-9B6192B28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32470"/>
              </p:ext>
            </p:extLst>
          </p:nvPr>
        </p:nvGraphicFramePr>
        <p:xfrm>
          <a:off x="7843517" y="5514167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748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20D6A-4C03-6D7B-6E47-1757C9C53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45600" cy="244619"/>
          </a:xfrm>
        </p:spPr>
        <p:txBody>
          <a:bodyPr>
            <a:normAutofit fontScale="90000"/>
          </a:bodyPr>
          <a:lstStyle/>
          <a:p>
            <a:r>
              <a:rPr lang="pt-BR" dirty="0"/>
              <a:t>1°Passo definir o maior valor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20DA8B-B5AB-8E7D-34E0-C233CB857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8084"/>
            <a:ext cx="9144000" cy="1422861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r>
              <a:rPr lang="pt-BR" b="1" i="1" dirty="0"/>
              <a:t>O nosso maior valor nesse </a:t>
            </a:r>
            <a:r>
              <a:rPr lang="pt-BR" b="1" i="1" dirty="0" err="1"/>
              <a:t>array</a:t>
            </a:r>
            <a:r>
              <a:rPr lang="pt-BR" b="1" i="1" dirty="0"/>
              <a:t> é o 7 então ele vai ser nosso K</a:t>
            </a:r>
          </a:p>
          <a:p>
            <a:r>
              <a:rPr lang="pt-BR" b="1" i="1" dirty="0"/>
              <a:t>K= 7</a:t>
            </a:r>
          </a:p>
          <a:p>
            <a:r>
              <a:rPr lang="pt-BR" b="1" i="1" dirty="0" err="1"/>
              <a:t>Entao</a:t>
            </a:r>
            <a:r>
              <a:rPr lang="pt-BR" b="1" i="1" dirty="0"/>
              <a:t> nosso </a:t>
            </a:r>
            <a:r>
              <a:rPr lang="pt-BR" b="1" i="1" dirty="0" err="1"/>
              <a:t>array</a:t>
            </a:r>
            <a:r>
              <a:rPr lang="pt-BR" b="1" i="1" dirty="0"/>
              <a:t> de contagem C vai ate 7 ou seja de 0 até a 6 posição </a:t>
            </a:r>
          </a:p>
          <a:p>
            <a:endParaRPr lang="pt-BR" b="1" i="1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997EA14-F3FC-C4A9-EC2B-E53D57F8B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328598"/>
              </p:ext>
            </p:extLst>
          </p:nvPr>
        </p:nvGraphicFramePr>
        <p:xfrm>
          <a:off x="1940561" y="160020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2B8D3F4-C2CC-238B-19B0-863EEC27D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883943"/>
              </p:ext>
            </p:extLst>
          </p:nvPr>
        </p:nvGraphicFramePr>
        <p:xfrm>
          <a:off x="7580377" y="160528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B7B6A26-814D-5F3B-A9C7-26AB8F720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442961"/>
              </p:ext>
            </p:extLst>
          </p:nvPr>
        </p:nvGraphicFramePr>
        <p:xfrm>
          <a:off x="2116053" y="1965960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981B2FF-F675-D718-4906-F3BCEE408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023613"/>
              </p:ext>
            </p:extLst>
          </p:nvPr>
        </p:nvGraphicFramePr>
        <p:xfrm>
          <a:off x="7890531" y="1956262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EDE76F8-3AB6-BCA6-AC28-AF99559F2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25088"/>
              </p:ext>
            </p:extLst>
          </p:nvPr>
        </p:nvGraphicFramePr>
        <p:xfrm>
          <a:off x="3593409" y="4437149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7819563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51980342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996699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1715573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48800999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08961255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543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1587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8D50C6BB-8E20-CAE2-7C47-1418C9F5D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755892"/>
              </p:ext>
            </p:extLst>
          </p:nvPr>
        </p:nvGraphicFramePr>
        <p:xfrm>
          <a:off x="3840018" y="4807989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50451269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2547820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8834392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98522724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11512843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07821387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41715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213"/>
                  </a:ext>
                </a:extLst>
              </a:tr>
            </a:tbl>
          </a:graphicData>
        </a:graphic>
      </p:graphicFrame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D93586B-E0A5-CDA8-F79B-17AE23D7F3AE}"/>
              </a:ext>
            </a:extLst>
          </p:cNvPr>
          <p:cNvSpPr/>
          <p:nvPr/>
        </p:nvSpPr>
        <p:spPr>
          <a:xfrm>
            <a:off x="2335507" y="436062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16159E5-78E8-605E-C40E-3D7831968BC0}"/>
              </a:ext>
            </a:extLst>
          </p:cNvPr>
          <p:cNvSpPr/>
          <p:nvPr/>
        </p:nvSpPr>
        <p:spPr>
          <a:xfrm>
            <a:off x="931579" y="148312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6FB4FAB-8681-1569-2367-3DBD0251BD7A}"/>
              </a:ext>
            </a:extLst>
          </p:cNvPr>
          <p:cNvSpPr/>
          <p:nvPr/>
        </p:nvSpPr>
        <p:spPr>
          <a:xfrm>
            <a:off x="2484582" y="5735637"/>
            <a:ext cx="7281211" cy="5543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Já o </a:t>
            </a:r>
            <a:r>
              <a:rPr lang="pt-BR" dirty="0" err="1"/>
              <a:t>array</a:t>
            </a:r>
            <a:r>
              <a:rPr lang="pt-BR" dirty="0"/>
              <a:t> B terá o mesmo tamanho de A porque será um A ordenado</a:t>
            </a:r>
          </a:p>
        </p:txBody>
      </p:sp>
    </p:spTree>
    <p:extLst>
      <p:ext uri="{BB962C8B-B14F-4D97-AF65-F5344CB8AC3E}">
        <p14:creationId xmlns:p14="http://schemas.microsoft.com/office/powerpoint/2010/main" val="1016992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9F1D-CF6E-445B-7130-FB469021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9C48-B014-1F13-C2CF-70DFD7FC3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45600" cy="244619"/>
          </a:xfrm>
        </p:spPr>
        <p:txBody>
          <a:bodyPr>
            <a:noAutofit/>
          </a:bodyPr>
          <a:lstStyle/>
          <a:p>
            <a:r>
              <a:rPr lang="pt-BR" sz="3600" dirty="0"/>
              <a:t>2° Passo é calcular a frequência dos elementos de A e registrar em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EA4D3A-A2D0-EB4E-620D-ECFAC26B5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8084"/>
            <a:ext cx="9144000" cy="1422861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pt-BR" b="1" i="1" dirty="0"/>
              <a:t>Usaria esse loop para iterar todos os valores</a:t>
            </a:r>
          </a:p>
          <a:p>
            <a:r>
              <a:rPr lang="pt-BR" b="1" i="1" dirty="0"/>
              <a:t> for(</a:t>
            </a:r>
            <a:r>
              <a:rPr lang="pt-BR" b="1" i="1" dirty="0" err="1"/>
              <a:t>int</a:t>
            </a:r>
            <a:r>
              <a:rPr lang="pt-BR" b="1" i="1" dirty="0"/>
              <a:t> i = 0; i &lt; A; i++)</a:t>
            </a:r>
          </a:p>
          <a:p>
            <a:r>
              <a:rPr lang="pt-BR" b="1" i="1" dirty="0"/>
              <a:t>C[A[i]-1] += 1</a:t>
            </a:r>
          </a:p>
          <a:p>
            <a:r>
              <a:rPr lang="pt-BR" b="1" i="1" dirty="0"/>
              <a:t>Exemplo o primeiro valor 3; 3 – 1 = 2 então 1 na posição 2 do </a:t>
            </a:r>
            <a:r>
              <a:rPr lang="pt-BR" b="1" i="1" dirty="0" err="1"/>
              <a:t>array</a:t>
            </a:r>
            <a:r>
              <a:rPr lang="pt-BR" b="1" i="1" dirty="0"/>
              <a:t> c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2DD4D9B-FCA1-75D6-4983-B5645F23C93F}"/>
              </a:ext>
            </a:extLst>
          </p:cNvPr>
          <p:cNvGraphicFramePr>
            <a:graphicFrameLocks noGrp="1"/>
          </p:cNvGraphicFramePr>
          <p:nvPr/>
        </p:nvGraphicFramePr>
        <p:xfrm>
          <a:off x="1940561" y="160020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2E8CBD4-3EAE-5908-BD47-AFEDD57EA431}"/>
              </a:ext>
            </a:extLst>
          </p:cNvPr>
          <p:cNvGraphicFramePr>
            <a:graphicFrameLocks noGrp="1"/>
          </p:cNvGraphicFramePr>
          <p:nvPr/>
        </p:nvGraphicFramePr>
        <p:xfrm>
          <a:off x="7580377" y="160528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EDFDC98-43A1-C8D8-8323-011603EBC4F1}"/>
              </a:ext>
            </a:extLst>
          </p:cNvPr>
          <p:cNvGraphicFramePr>
            <a:graphicFrameLocks noGrp="1"/>
          </p:cNvGraphicFramePr>
          <p:nvPr/>
        </p:nvGraphicFramePr>
        <p:xfrm>
          <a:off x="2116053" y="1965960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7E0D6F9-2425-94D8-ABE8-F03F0E7DA440}"/>
              </a:ext>
            </a:extLst>
          </p:cNvPr>
          <p:cNvGraphicFramePr>
            <a:graphicFrameLocks noGrp="1"/>
          </p:cNvGraphicFramePr>
          <p:nvPr/>
        </p:nvGraphicFramePr>
        <p:xfrm>
          <a:off x="7890531" y="1956262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C25AF61-45E1-43FC-4884-FE425ED82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923766"/>
              </p:ext>
            </p:extLst>
          </p:nvPr>
        </p:nvGraphicFramePr>
        <p:xfrm>
          <a:off x="3593409" y="4437149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7819563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51980342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996699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1715573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48800999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08961255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543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1587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6C34009D-23EF-0FBE-CDDF-0B94207C8C91}"/>
              </a:ext>
            </a:extLst>
          </p:cNvPr>
          <p:cNvGraphicFramePr>
            <a:graphicFrameLocks noGrp="1"/>
          </p:cNvGraphicFramePr>
          <p:nvPr/>
        </p:nvGraphicFramePr>
        <p:xfrm>
          <a:off x="3840018" y="4807989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50451269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2547820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8834392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98522724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11512843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07821387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41715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213"/>
                  </a:ext>
                </a:extLst>
              </a:tr>
            </a:tbl>
          </a:graphicData>
        </a:graphic>
      </p:graphicFrame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BC45B69-7EDF-DB39-ECD3-112246B6C45F}"/>
              </a:ext>
            </a:extLst>
          </p:cNvPr>
          <p:cNvSpPr/>
          <p:nvPr/>
        </p:nvSpPr>
        <p:spPr>
          <a:xfrm>
            <a:off x="2335507" y="436062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5492035-09C7-2699-5D44-8ADA6DDE4569}"/>
              </a:ext>
            </a:extLst>
          </p:cNvPr>
          <p:cNvSpPr/>
          <p:nvPr/>
        </p:nvSpPr>
        <p:spPr>
          <a:xfrm>
            <a:off x="931579" y="148312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5914444-7638-D06E-9082-620755DD8562}"/>
              </a:ext>
            </a:extLst>
          </p:cNvPr>
          <p:cNvSpPr/>
          <p:nvPr/>
        </p:nvSpPr>
        <p:spPr>
          <a:xfrm>
            <a:off x="2447637" y="5400395"/>
            <a:ext cx="7426036" cy="8591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i="1" dirty="0"/>
              <a:t>Oque o </a:t>
            </a:r>
            <a:r>
              <a:rPr lang="pt-BR" b="1" i="1" dirty="0" err="1"/>
              <a:t>array</a:t>
            </a:r>
            <a:r>
              <a:rPr lang="pt-BR" b="1" i="1" dirty="0"/>
              <a:t> C diz até então somando mais 1 no índice ele diz que a 1 ocorrência o valor 1 no </a:t>
            </a:r>
            <a:r>
              <a:rPr lang="pt-BR" b="1" i="1" dirty="0" err="1"/>
              <a:t>array</a:t>
            </a:r>
            <a:r>
              <a:rPr lang="pt-BR" b="1" i="1" dirty="0"/>
              <a:t> A, que a 2 ocorrências do valor 2 no </a:t>
            </a:r>
            <a:r>
              <a:rPr lang="pt-BR" b="1" i="1" dirty="0" err="1"/>
              <a:t>array</a:t>
            </a:r>
            <a:r>
              <a:rPr lang="pt-BR" b="1" i="1" dirty="0"/>
              <a:t> A, que a 2 ocorrências do valor 3 em A</a:t>
            </a:r>
          </a:p>
        </p:txBody>
      </p:sp>
    </p:spTree>
    <p:extLst>
      <p:ext uri="{BB962C8B-B14F-4D97-AF65-F5344CB8AC3E}">
        <p14:creationId xmlns:p14="http://schemas.microsoft.com/office/powerpoint/2010/main" val="2139738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D453-099B-DD75-CA51-A4510F6B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65588-5C77-46A6-8A9E-CCAC84C55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45600" cy="244619"/>
          </a:xfrm>
        </p:spPr>
        <p:txBody>
          <a:bodyPr>
            <a:noAutofit/>
          </a:bodyPr>
          <a:lstStyle/>
          <a:p>
            <a:r>
              <a:rPr lang="pt-BR" sz="3600" dirty="0"/>
              <a:t>3° Passo é calcular a acumulativa desses valore no próprio </a:t>
            </a:r>
            <a:r>
              <a:rPr lang="pt-BR" sz="3600" dirty="0" err="1"/>
              <a:t>array</a:t>
            </a:r>
            <a:r>
              <a:rPr lang="pt-BR" sz="3600" dirty="0"/>
              <a:t>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7C313-053D-5B86-64F4-FE1C41399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937" y="2479502"/>
            <a:ext cx="11111344" cy="1623247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 algn="l"/>
            <a:r>
              <a:rPr lang="pt-BR" b="1" i="1" dirty="0"/>
              <a:t>Usaria esse loop para iterar e calcular a cumulativa for (</a:t>
            </a:r>
            <a:r>
              <a:rPr lang="pt-BR" b="1" i="1" dirty="0" err="1"/>
              <a:t>int</a:t>
            </a:r>
            <a:r>
              <a:rPr lang="pt-BR" b="1" i="1" dirty="0"/>
              <a:t> i = 1; i &lt; C; i++) C[i] = c[i] + c[i -1]</a:t>
            </a:r>
          </a:p>
          <a:p>
            <a:pPr algn="l"/>
            <a:r>
              <a:rPr lang="pt-BR" b="1" i="1" dirty="0"/>
              <a:t>Isso vai pegar o numero mais o seu anterior e colocar dentro do índice EX:</a:t>
            </a:r>
          </a:p>
          <a:p>
            <a:pPr algn="l"/>
            <a:r>
              <a:rPr lang="pt-BR" b="1" i="1" dirty="0"/>
              <a:t>Indice 0 como não tem ninguém antes dele nem vai entrar no for ,já o índice 1 possui o 2 e vai somar com o índice – 1 que vai entrar no índice 0 ou seja 2 + 1 = 3 o índice 1 passa a valer 3 ai depois índice 2 será 2 + 3  = 5 no índice 2 .........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CD4B7FF-71CA-AB2F-BDA6-0912C0DD3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78873"/>
              </p:ext>
            </p:extLst>
          </p:nvPr>
        </p:nvGraphicFramePr>
        <p:xfrm>
          <a:off x="3593409" y="517937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7819563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51980342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996699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1715573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48800999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08961255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543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1587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B7BD4ADC-CAC8-AE64-DAF0-6CD54A433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100590"/>
              </p:ext>
            </p:extLst>
          </p:nvPr>
        </p:nvGraphicFramePr>
        <p:xfrm>
          <a:off x="3828472" y="5550217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50451269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2547820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8834392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98522724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11512843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07821387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41715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213"/>
                  </a:ext>
                </a:extLst>
              </a:tr>
            </a:tbl>
          </a:graphicData>
        </a:graphic>
      </p:graphicFrame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4EADB84-CD03-CE53-725A-DBCB8A5B1ECC}"/>
              </a:ext>
            </a:extLst>
          </p:cNvPr>
          <p:cNvSpPr/>
          <p:nvPr/>
        </p:nvSpPr>
        <p:spPr>
          <a:xfrm>
            <a:off x="2335507" y="510285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C4AC2E9-20AB-C4C7-7BB5-E05EB3F4C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00540"/>
              </p:ext>
            </p:extLst>
          </p:nvPr>
        </p:nvGraphicFramePr>
        <p:xfrm>
          <a:off x="3644209" y="1737822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7819563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51980342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996699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1715573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48800999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08961255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543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15877"/>
                  </a:ext>
                </a:extLst>
              </a:tr>
            </a:tbl>
          </a:graphicData>
        </a:graphic>
      </p:graphicFrame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D66969D-43BA-59BB-A483-4C6857ADED18}"/>
              </a:ext>
            </a:extLst>
          </p:cNvPr>
          <p:cNvSpPr/>
          <p:nvPr/>
        </p:nvSpPr>
        <p:spPr>
          <a:xfrm>
            <a:off x="2335507" y="166208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834D953C-A5D1-E42B-9733-7623780EC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401872"/>
              </p:ext>
            </p:extLst>
          </p:nvPr>
        </p:nvGraphicFramePr>
        <p:xfrm>
          <a:off x="3840018" y="2064838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50451269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2547820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8834392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98522724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11512843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07821387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41715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213"/>
                  </a:ext>
                </a:extLst>
              </a:tr>
            </a:tbl>
          </a:graphicData>
        </a:graphic>
      </p:graphicFrame>
      <p:sp>
        <p:nvSpPr>
          <p:cNvPr id="23" name="Seta: Curva para Cima 22">
            <a:extLst>
              <a:ext uri="{FF2B5EF4-FFF2-40B4-BE49-F238E27FC236}">
                <a16:creationId xmlns:a16="http://schemas.microsoft.com/office/drawing/2014/main" id="{50D1ED75-67FD-A407-0C1E-B4AE65C97941}"/>
              </a:ext>
            </a:extLst>
          </p:cNvPr>
          <p:cNvSpPr/>
          <p:nvPr/>
        </p:nvSpPr>
        <p:spPr>
          <a:xfrm rot="10800000">
            <a:off x="3163918" y="4473589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4" name="Seta: Curva para Cima 23">
            <a:extLst>
              <a:ext uri="{FF2B5EF4-FFF2-40B4-BE49-F238E27FC236}">
                <a16:creationId xmlns:a16="http://schemas.microsoft.com/office/drawing/2014/main" id="{055CC592-698F-A13E-CE9F-A3C7F0F2A604}"/>
              </a:ext>
            </a:extLst>
          </p:cNvPr>
          <p:cNvSpPr/>
          <p:nvPr/>
        </p:nvSpPr>
        <p:spPr>
          <a:xfrm rot="10800000">
            <a:off x="5287818" y="4455446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5" name="Seta: Curva para Cima 24">
            <a:extLst>
              <a:ext uri="{FF2B5EF4-FFF2-40B4-BE49-F238E27FC236}">
                <a16:creationId xmlns:a16="http://schemas.microsoft.com/office/drawing/2014/main" id="{D31A500B-00EA-3ADE-A421-4252573BF36B}"/>
              </a:ext>
            </a:extLst>
          </p:cNvPr>
          <p:cNvSpPr/>
          <p:nvPr/>
        </p:nvSpPr>
        <p:spPr>
          <a:xfrm rot="10800000">
            <a:off x="4569227" y="4473589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Seta: Curva para Cima 25">
            <a:extLst>
              <a:ext uri="{FF2B5EF4-FFF2-40B4-BE49-F238E27FC236}">
                <a16:creationId xmlns:a16="http://schemas.microsoft.com/office/drawing/2014/main" id="{7D67D246-3EAB-F480-3D92-98D7AB445D89}"/>
              </a:ext>
            </a:extLst>
          </p:cNvPr>
          <p:cNvSpPr/>
          <p:nvPr/>
        </p:nvSpPr>
        <p:spPr>
          <a:xfrm rot="10800000">
            <a:off x="3840018" y="4491733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7" name="Seta: Curva para Cima 26">
            <a:extLst>
              <a:ext uri="{FF2B5EF4-FFF2-40B4-BE49-F238E27FC236}">
                <a16:creationId xmlns:a16="http://schemas.microsoft.com/office/drawing/2014/main" id="{8BF437DA-D635-7265-B980-D18A5B3E6594}"/>
              </a:ext>
            </a:extLst>
          </p:cNvPr>
          <p:cNvSpPr/>
          <p:nvPr/>
        </p:nvSpPr>
        <p:spPr>
          <a:xfrm rot="10800000">
            <a:off x="6096000" y="4473590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8" name="Seta: Curva para Cima 27">
            <a:extLst>
              <a:ext uri="{FF2B5EF4-FFF2-40B4-BE49-F238E27FC236}">
                <a16:creationId xmlns:a16="http://schemas.microsoft.com/office/drawing/2014/main" id="{4392190B-31EE-8940-66F5-180A1DD49E3F}"/>
              </a:ext>
            </a:extLst>
          </p:cNvPr>
          <p:cNvSpPr/>
          <p:nvPr/>
        </p:nvSpPr>
        <p:spPr>
          <a:xfrm rot="10800000">
            <a:off x="6865391" y="4491734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9" name="Seta: Curva para Cima 28">
            <a:extLst>
              <a:ext uri="{FF2B5EF4-FFF2-40B4-BE49-F238E27FC236}">
                <a16:creationId xmlns:a16="http://schemas.microsoft.com/office/drawing/2014/main" id="{2CE343F9-D1B1-05E8-7409-4F6F3084BB3B}"/>
              </a:ext>
            </a:extLst>
          </p:cNvPr>
          <p:cNvSpPr/>
          <p:nvPr/>
        </p:nvSpPr>
        <p:spPr>
          <a:xfrm rot="10800000">
            <a:off x="7662491" y="4491733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Seta: Curva para Cima 29">
            <a:extLst>
              <a:ext uri="{FF2B5EF4-FFF2-40B4-BE49-F238E27FC236}">
                <a16:creationId xmlns:a16="http://schemas.microsoft.com/office/drawing/2014/main" id="{D63CF105-AC35-5A93-FD88-FE1D5E09805D}"/>
              </a:ext>
            </a:extLst>
          </p:cNvPr>
          <p:cNvSpPr/>
          <p:nvPr/>
        </p:nvSpPr>
        <p:spPr>
          <a:xfrm rot="10800000">
            <a:off x="3368736" y="1249987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1" name="Seta: Curva para Cima 30">
            <a:extLst>
              <a:ext uri="{FF2B5EF4-FFF2-40B4-BE49-F238E27FC236}">
                <a16:creationId xmlns:a16="http://schemas.microsoft.com/office/drawing/2014/main" id="{29CB9D9D-E583-C8E6-D93B-DC1FA44A8B84}"/>
              </a:ext>
            </a:extLst>
          </p:cNvPr>
          <p:cNvSpPr/>
          <p:nvPr/>
        </p:nvSpPr>
        <p:spPr>
          <a:xfrm rot="10800000">
            <a:off x="4788137" y="1265267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2" name="Seta: Curva para Cima 31">
            <a:extLst>
              <a:ext uri="{FF2B5EF4-FFF2-40B4-BE49-F238E27FC236}">
                <a16:creationId xmlns:a16="http://schemas.microsoft.com/office/drawing/2014/main" id="{12A4556B-97FE-30D8-5C52-FC082CA56346}"/>
              </a:ext>
            </a:extLst>
          </p:cNvPr>
          <p:cNvSpPr/>
          <p:nvPr/>
        </p:nvSpPr>
        <p:spPr>
          <a:xfrm rot="10800000">
            <a:off x="4078436" y="1233313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Seta: Curva para Cima 32">
            <a:extLst>
              <a:ext uri="{FF2B5EF4-FFF2-40B4-BE49-F238E27FC236}">
                <a16:creationId xmlns:a16="http://schemas.microsoft.com/office/drawing/2014/main" id="{6E951F51-6F32-BAFF-C797-AFCA75A4E0F2}"/>
              </a:ext>
            </a:extLst>
          </p:cNvPr>
          <p:cNvSpPr/>
          <p:nvPr/>
        </p:nvSpPr>
        <p:spPr>
          <a:xfrm rot="10800000">
            <a:off x="6198645" y="1289868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4" name="Seta: Curva para Cima 33">
            <a:extLst>
              <a:ext uri="{FF2B5EF4-FFF2-40B4-BE49-F238E27FC236}">
                <a16:creationId xmlns:a16="http://schemas.microsoft.com/office/drawing/2014/main" id="{BB48BAAC-3745-0DFE-098C-898F45D35400}"/>
              </a:ext>
            </a:extLst>
          </p:cNvPr>
          <p:cNvSpPr/>
          <p:nvPr/>
        </p:nvSpPr>
        <p:spPr>
          <a:xfrm rot="10800000">
            <a:off x="5497837" y="1261487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5" name="Seta: Curva para Cima 34">
            <a:extLst>
              <a:ext uri="{FF2B5EF4-FFF2-40B4-BE49-F238E27FC236}">
                <a16:creationId xmlns:a16="http://schemas.microsoft.com/office/drawing/2014/main" id="{28D9CEC2-DFCE-D91E-F1F2-1C5EFE4DF51F}"/>
              </a:ext>
            </a:extLst>
          </p:cNvPr>
          <p:cNvSpPr/>
          <p:nvPr/>
        </p:nvSpPr>
        <p:spPr>
          <a:xfrm rot="10800000">
            <a:off x="6865390" y="1277485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6" name="Seta: Curva para Cima 35">
            <a:extLst>
              <a:ext uri="{FF2B5EF4-FFF2-40B4-BE49-F238E27FC236}">
                <a16:creationId xmlns:a16="http://schemas.microsoft.com/office/drawing/2014/main" id="{BDB09F79-74A5-1DB4-7E69-5CD3C27CE154}"/>
              </a:ext>
            </a:extLst>
          </p:cNvPr>
          <p:cNvSpPr/>
          <p:nvPr/>
        </p:nvSpPr>
        <p:spPr>
          <a:xfrm rot="10800000">
            <a:off x="7599804" y="1230355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F6D56B2-A91A-16A4-2BB6-11DE87BC2D25}"/>
              </a:ext>
            </a:extLst>
          </p:cNvPr>
          <p:cNvSpPr/>
          <p:nvPr/>
        </p:nvSpPr>
        <p:spPr>
          <a:xfrm>
            <a:off x="2335507" y="5921057"/>
            <a:ext cx="7952816" cy="7937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i="1" dirty="0"/>
              <a:t>Oque o </a:t>
            </a:r>
            <a:r>
              <a:rPr lang="pt-BR" b="1" i="1" dirty="0" err="1"/>
              <a:t>array</a:t>
            </a:r>
            <a:r>
              <a:rPr lang="pt-BR" b="1" i="1" dirty="0"/>
              <a:t> diz agora? Pegando o valor 9 na posição 6 + 1 diz que existe 9 elementos menores ou IGUAIS NO ARRAY A que 6+ 1 = 7(porque o </a:t>
            </a:r>
            <a:r>
              <a:rPr lang="pt-BR" b="1" i="1" dirty="0" err="1"/>
              <a:t>array</a:t>
            </a:r>
            <a:r>
              <a:rPr lang="pt-BR" b="1" i="1" dirty="0"/>
              <a:t> tem 7 posições com o 0)</a:t>
            </a:r>
          </a:p>
        </p:txBody>
      </p:sp>
    </p:spTree>
    <p:extLst>
      <p:ext uri="{BB962C8B-B14F-4D97-AF65-F5344CB8AC3E}">
        <p14:creationId xmlns:p14="http://schemas.microsoft.com/office/powerpoint/2010/main" val="3478084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3300-9079-55F1-B1D3-C817C9F1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7E473-B8B6-C507-D882-B9DAA801B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138"/>
            <a:ext cx="9144000" cy="1049337"/>
          </a:xfrm>
        </p:spPr>
        <p:txBody>
          <a:bodyPr>
            <a:normAutofit/>
          </a:bodyPr>
          <a:lstStyle/>
          <a:p>
            <a:r>
              <a:rPr lang="pt-BR" sz="3200" dirty="0"/>
              <a:t>4° Passo registrar os elementos de A em B de forma ordenada utilizando as posições fornecidas por C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55F3FB4-84CF-57BF-AFA9-798A9B5C9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6106"/>
              </p:ext>
            </p:extLst>
          </p:nvPr>
        </p:nvGraphicFramePr>
        <p:xfrm>
          <a:off x="1940561" y="160020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69220E4-EB18-8CFA-8806-510716874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416882"/>
              </p:ext>
            </p:extLst>
          </p:nvPr>
        </p:nvGraphicFramePr>
        <p:xfrm>
          <a:off x="7580377" y="160528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D47B7E8-D731-C915-3919-23A28747D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04010"/>
              </p:ext>
            </p:extLst>
          </p:nvPr>
        </p:nvGraphicFramePr>
        <p:xfrm>
          <a:off x="2203701" y="1950517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6180012-907A-6CCA-C3C5-0935F9C70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449"/>
              </p:ext>
            </p:extLst>
          </p:nvPr>
        </p:nvGraphicFramePr>
        <p:xfrm>
          <a:off x="7843517" y="1967732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D2A7D2EB-B0B6-710F-9470-4D3EF83D9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465173"/>
              </p:ext>
            </p:extLst>
          </p:nvPr>
        </p:nvGraphicFramePr>
        <p:xfrm>
          <a:off x="1940561" y="2590205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F9F49A4-295A-A58A-B559-53C2E22D0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10603"/>
              </p:ext>
            </p:extLst>
          </p:nvPr>
        </p:nvGraphicFramePr>
        <p:xfrm>
          <a:off x="2106815" y="2933981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EB40B8D-790A-CFBD-9621-18113CFEE10E}"/>
              </a:ext>
            </a:extLst>
          </p:cNvPr>
          <p:cNvSpPr/>
          <p:nvPr/>
        </p:nvSpPr>
        <p:spPr>
          <a:xfrm>
            <a:off x="931579" y="148312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65E0B5C-7CB5-6AAA-B7DF-2856C7C48235}"/>
              </a:ext>
            </a:extLst>
          </p:cNvPr>
          <p:cNvSpPr/>
          <p:nvPr/>
        </p:nvSpPr>
        <p:spPr>
          <a:xfrm>
            <a:off x="800054" y="3495889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FADCD0F-D5C0-7691-EE17-44008EE67CF2}"/>
              </a:ext>
            </a:extLst>
          </p:cNvPr>
          <p:cNvSpPr/>
          <p:nvPr/>
        </p:nvSpPr>
        <p:spPr>
          <a:xfrm>
            <a:off x="931579" y="2428660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520B869E-91FE-A8C5-2CBB-8D55420F8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642230"/>
              </p:ext>
            </p:extLst>
          </p:nvPr>
        </p:nvGraphicFramePr>
        <p:xfrm>
          <a:off x="1789498" y="3669312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3BA7D736-0437-FA52-376E-8E6454355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70518"/>
              </p:ext>
            </p:extLst>
          </p:nvPr>
        </p:nvGraphicFramePr>
        <p:xfrm>
          <a:off x="7429314" y="3674340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A16C056D-59DC-2680-C3FB-7AE2D8FFB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880863"/>
              </p:ext>
            </p:extLst>
          </p:nvPr>
        </p:nvGraphicFramePr>
        <p:xfrm>
          <a:off x="1996813" y="4111393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91FE707-D8E4-7A1D-94E7-8427382E0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331405"/>
              </p:ext>
            </p:extLst>
          </p:nvPr>
        </p:nvGraphicFramePr>
        <p:xfrm>
          <a:off x="7787265" y="4111393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05452F6-A4E4-B2A8-5D94-D09282799787}"/>
              </a:ext>
            </a:extLst>
          </p:cNvPr>
          <p:cNvSpPr/>
          <p:nvPr/>
        </p:nvSpPr>
        <p:spPr>
          <a:xfrm>
            <a:off x="1940561" y="1119104"/>
            <a:ext cx="6455294" cy="3274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i="1" dirty="0"/>
              <a:t>Vamos ordenar de trás para frente mantendo a estabilidade</a:t>
            </a:r>
          </a:p>
        </p:txBody>
      </p:sp>
      <p:sp>
        <p:nvSpPr>
          <p:cNvPr id="16" name="Seta: para a Esquerda 15">
            <a:extLst>
              <a:ext uri="{FF2B5EF4-FFF2-40B4-BE49-F238E27FC236}">
                <a16:creationId xmlns:a16="http://schemas.microsoft.com/office/drawing/2014/main" id="{2450690B-E00C-1FBB-687D-036FBC97ACB1}"/>
              </a:ext>
            </a:extLst>
          </p:cNvPr>
          <p:cNvSpPr/>
          <p:nvPr/>
        </p:nvSpPr>
        <p:spPr>
          <a:xfrm>
            <a:off x="8518884" y="1048037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23B4D1B-FFE6-2C46-2675-C40883F7F056}"/>
              </a:ext>
            </a:extLst>
          </p:cNvPr>
          <p:cNvSpPr/>
          <p:nvPr/>
        </p:nvSpPr>
        <p:spPr>
          <a:xfrm>
            <a:off x="931579" y="4793701"/>
            <a:ext cx="10152058" cy="12353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O código para isso </a:t>
            </a:r>
            <a:r>
              <a:rPr lang="pt-BR" b="1" i="1" dirty="0"/>
              <a:t>for(</a:t>
            </a:r>
            <a:r>
              <a:rPr lang="pt-BR" b="1" i="1" dirty="0" err="1"/>
              <a:t>int</a:t>
            </a:r>
            <a:r>
              <a:rPr lang="pt-BR" b="1" i="1" dirty="0"/>
              <a:t> i = A - 1; i &gt;=0; i--) //de trás para frente</a:t>
            </a:r>
          </a:p>
          <a:p>
            <a:r>
              <a:rPr lang="pt-BR" b="1" i="1" dirty="0"/>
              <a:t>B[C[A[i] -1]-1] = A[i]</a:t>
            </a:r>
          </a:p>
          <a:p>
            <a:r>
              <a:rPr lang="pt-BR" b="1" i="1" dirty="0"/>
              <a:t>C[A[i]-1] -= 1 //preciso decrementar C</a:t>
            </a:r>
          </a:p>
          <a:p>
            <a:pPr algn="ctr"/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9198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3D9E2-5708-57D0-E79E-A7EBD565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498BBEE-FF5F-BB17-6CCE-28B0A2D15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70599"/>
              </p:ext>
            </p:extLst>
          </p:nvPr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F85B122-6BBB-92F9-BCC7-7AE25287B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079362"/>
              </p:ext>
            </p:extLst>
          </p:nvPr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11F8AC1-2F14-771F-4C1E-D400053B2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627733"/>
              </p:ext>
            </p:extLst>
          </p:nvPr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76BBECE5-15FA-9E5F-159E-DF7AB9F54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579186"/>
              </p:ext>
            </p:extLst>
          </p:nvPr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A658400-24EC-611E-61D8-11C82862F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81664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6909E7E2-34D9-A2DA-66B4-8DB9EC04B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191615"/>
              </p:ext>
            </p:extLst>
          </p:nvPr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22A3EA2-0AC3-B780-DE54-D438AF3F6B77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DFA647E-ACC9-8D41-BCB7-2E803857146E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839500E-5071-E184-1607-E6505B047A53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CB339C6A-A243-9DD1-FCDB-B50002D6C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552195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425D3F84-3D72-8235-B009-45D78A01F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685716"/>
              </p:ext>
            </p:extLst>
          </p:nvPr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5D408384-A0BC-9B4E-CE62-B3EE3A384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341346"/>
              </p:ext>
            </p:extLst>
          </p:nvPr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A4C2E379-8D4E-CDEC-644C-908B05C42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971133"/>
              </p:ext>
            </p:extLst>
          </p:nvPr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7600FC7-7613-3322-8533-313BA83E7A5E}"/>
              </a:ext>
            </a:extLst>
          </p:cNvPr>
          <p:cNvSpPr/>
          <p:nvPr/>
        </p:nvSpPr>
        <p:spPr>
          <a:xfrm>
            <a:off x="1940561" y="194911"/>
            <a:ext cx="6455294" cy="3274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i="1" dirty="0"/>
              <a:t>Vamos pegar o primeiro elemento de A que é o 3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B9E65D7-C876-2211-84CC-E97553915EE7}"/>
              </a:ext>
            </a:extLst>
          </p:cNvPr>
          <p:cNvSpPr/>
          <p:nvPr/>
        </p:nvSpPr>
        <p:spPr>
          <a:xfrm>
            <a:off x="8338220" y="441165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F3D5EBFE-CF0B-62A5-53AC-2633FE4FC290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B0036ED-A1F6-1E74-C4E3-C971ACA27A7E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Primeiro elemento que peguei foi 3 e vou ver quem esta na posição de índice 3 por isso o </a:t>
            </a:r>
            <a:r>
              <a:rPr lang="pt-BR" b="1" i="1" dirty="0"/>
              <a:t>A[i] -1 = 3 – 1 índice 2 e é o 5</a:t>
            </a:r>
            <a:endParaRPr lang="pt-BR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0752711-33E2-0106-DFD6-C5C4199FC5E1}"/>
              </a:ext>
            </a:extLst>
          </p:cNvPr>
          <p:cNvSpPr/>
          <p:nvPr/>
        </p:nvSpPr>
        <p:spPr>
          <a:xfrm>
            <a:off x="2801020" y="2375772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1969DF6-CE5D-E5CF-B42B-CB83A8F76E39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5 para saber onde encaixar em B por isso o </a:t>
            </a:r>
            <a:r>
              <a:rPr lang="pt-BR" b="1" i="1" dirty="0"/>
              <a:t>C[A[i] -1]-1 que seria 5 – 1 = 4 índice 4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5986203F-D2C5-81EC-A275-26648E365681}"/>
              </a:ext>
            </a:extLst>
          </p:cNvPr>
          <p:cNvSpPr/>
          <p:nvPr/>
        </p:nvSpPr>
        <p:spPr>
          <a:xfrm>
            <a:off x="4543418" y="402543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AE6F916-B296-E0FA-081E-7DE6B2122090}"/>
              </a:ext>
            </a:extLst>
          </p:cNvPr>
          <p:cNvSpPr/>
          <p:nvPr/>
        </p:nvSpPr>
        <p:spPr>
          <a:xfrm>
            <a:off x="1284004" y="4922948"/>
            <a:ext cx="8943609" cy="1168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sabemos qual índice o 3 tem que parar por isso o </a:t>
            </a:r>
            <a:r>
              <a:rPr lang="pt-BR" b="1" i="1" dirty="0"/>
              <a:t>B[C[A[i] -1]-1] = A[i]</a:t>
            </a:r>
          </a:p>
          <a:p>
            <a:pPr algn="ctr"/>
            <a:r>
              <a:rPr lang="pt-BR" dirty="0"/>
              <a:t>E agora com essa instrução decrementamos o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8BDAA5CD-8F41-2AAE-470B-9C5D5C31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805536"/>
              </p:ext>
            </p:extLst>
          </p:nvPr>
        </p:nvGraphicFramePr>
        <p:xfrm>
          <a:off x="1472181" y="620062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8BA0E46A-7A95-B423-C826-60B2D7632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352384"/>
              </p:ext>
            </p:extLst>
          </p:nvPr>
        </p:nvGraphicFramePr>
        <p:xfrm>
          <a:off x="1714173" y="6477669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A12BCC30-9230-C0CF-5F86-22A8E13588F3}"/>
              </a:ext>
            </a:extLst>
          </p:cNvPr>
          <p:cNvSpPr/>
          <p:nvPr/>
        </p:nvSpPr>
        <p:spPr>
          <a:xfrm>
            <a:off x="496362" y="5989538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6E81E20B-E4D8-C0AB-EB3E-59070B5B17CB}"/>
              </a:ext>
            </a:extLst>
          </p:cNvPr>
          <p:cNvCxnSpPr/>
          <p:nvPr/>
        </p:nvCxnSpPr>
        <p:spPr>
          <a:xfrm flipV="1">
            <a:off x="2801020" y="6091330"/>
            <a:ext cx="905163" cy="66968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95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C4431-6F06-24C3-518B-E7325047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3651051-EEEF-9679-7C25-2E55387B6AA5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D640C93-0503-A37E-6192-BD1EBF06BDBB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0CF69535-0BF9-986E-5D42-EE4D84A87785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5DF3745-5499-F6FB-6056-639484B646A8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2F8378D-161A-D092-1C67-5A9E37D57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163976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116E9C0-E218-D7F3-760F-EE04104D5130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FD9A2CC-AEA6-7D29-1653-C1818A4E1FDA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B58E3B0-BDFB-1B88-78BD-A64A38A6E667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2ED62DC-1230-04F8-4CE6-5B921D174089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B627499A-749C-9AA6-5F4E-84A65CBDE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180112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5CAC129E-4ABA-FD97-2EAB-89EFFF30E8DF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41EF0A16-065A-2805-3E5B-2003AEB1DF0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DFAB548D-DEB0-FC42-6186-3F36FFE42125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C6B13BBD-7364-0024-70CA-D0582C1F47F7}"/>
              </a:ext>
            </a:extLst>
          </p:cNvPr>
          <p:cNvSpPr/>
          <p:nvPr/>
        </p:nvSpPr>
        <p:spPr>
          <a:xfrm>
            <a:off x="7208153" y="434771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32AAECE8-33EC-2B4A-2C6E-61DE1A36E524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51B3600-DDFE-78BC-E5DB-DFA83C961C7C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Segundo elemento que peguei foi 2 e vou ver quem esta na posição de índice 2 por isso o </a:t>
            </a:r>
            <a:r>
              <a:rPr lang="pt-BR" b="1" i="1" dirty="0"/>
              <a:t>A[i] -1 = 2 – 1 índice 1 e é o 3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2E59282-8AE7-1AFB-3CA3-79BA2F8B7A5B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3 para saber onde encaixar em B por isso o </a:t>
            </a:r>
            <a:r>
              <a:rPr lang="pt-BR" b="1" i="1" dirty="0"/>
              <a:t>C[A[i] -1]-1 que seria 3 – 1 = 2 índice 2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400B305-4495-F385-184B-A97CB2839033}"/>
              </a:ext>
            </a:extLst>
          </p:cNvPr>
          <p:cNvSpPr/>
          <p:nvPr/>
        </p:nvSpPr>
        <p:spPr>
          <a:xfrm>
            <a:off x="2982516" y="405034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89599A0-3205-FC64-17F1-EE9AB2CBF61F}"/>
              </a:ext>
            </a:extLst>
          </p:cNvPr>
          <p:cNvSpPr/>
          <p:nvPr/>
        </p:nvSpPr>
        <p:spPr>
          <a:xfrm>
            <a:off x="2077353" y="233500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1BEAE8F-576D-FACC-09F1-041289CCF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02895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1BF57D3-5730-1373-FC16-4CEAEC450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89942"/>
              </p:ext>
            </p:extLst>
          </p:nvPr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75F2065-48ED-9A60-A066-DCA90BD0FECB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6975EBD-AD07-CA92-EB57-EF867C94FD05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1DFC9E74-6AA3-77E6-01FB-9FD264CA6B4F}"/>
              </a:ext>
            </a:extLst>
          </p:cNvPr>
          <p:cNvCxnSpPr/>
          <p:nvPr/>
        </p:nvCxnSpPr>
        <p:spPr>
          <a:xfrm flipV="1">
            <a:off x="2189018" y="5671127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8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06C41-6594-13BC-879C-7B558A6D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8CCCEBF-5B78-F07B-03BE-7D78D94EE57F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B2D16A8-77C6-FA39-6C23-3BE982AF689A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43CF24C-0EBB-D1CF-F5A8-73C04E55785F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F8B445C-BC0F-033C-D0D5-C500A42538AE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DFED726-0D80-1CDA-1E7A-6DD0F6174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921234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F9F731AB-434D-E00F-68E0-D208410B443F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D33F627-28DA-8D55-A228-CD098CB3757D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8E491B4-A607-EC05-F0B1-ECC51000B57E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E15B975-0CDB-34C4-D94B-0385B88CF7BB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4CACCDD6-937D-3BA4-9A6F-6EA00382C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18333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2A81A548-9AE6-EFF9-4025-5A784A4B3816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F7A01E0E-CFD0-7BD6-4B65-2C2C7AE8E90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E910EB85-425D-C770-B8DC-B5FCCBFFAA97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8FDC2516-87FF-3F3F-256F-B85E060A7901}"/>
              </a:ext>
            </a:extLst>
          </p:cNvPr>
          <p:cNvSpPr/>
          <p:nvPr/>
        </p:nvSpPr>
        <p:spPr>
          <a:xfrm>
            <a:off x="6210069" y="50053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91132F65-9261-B941-7B7C-F2BA91904F50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15D55CE-5D01-2D5F-6261-5F888F693D27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Terceiro elemento que peguei foi 1 e vou ver quem esta na posição de índice 1 por isso o </a:t>
            </a:r>
            <a:r>
              <a:rPr lang="pt-BR" b="1" i="1" dirty="0"/>
              <a:t>A[i] -1 = 1 – 1 índice 0 e é o 1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B4024E2-B906-F638-86BD-B6F67BA5059E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1 para saber onde encaixar em B por isso o </a:t>
            </a:r>
            <a:r>
              <a:rPr lang="pt-BR" b="1" i="1" dirty="0"/>
              <a:t>C[A[i] -1]-1 que seria 1 – 1 = 0 índice 0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0B67D90-D57B-4CEF-DEB5-3F55D13223CC}"/>
              </a:ext>
            </a:extLst>
          </p:cNvPr>
          <p:cNvSpPr/>
          <p:nvPr/>
        </p:nvSpPr>
        <p:spPr>
          <a:xfrm>
            <a:off x="1205114" y="4013328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8370698-3359-2374-9479-6A32AE907FCC}"/>
              </a:ext>
            </a:extLst>
          </p:cNvPr>
          <p:cNvSpPr/>
          <p:nvPr/>
        </p:nvSpPr>
        <p:spPr>
          <a:xfrm>
            <a:off x="1282470" y="240886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A044EBB-B5AE-33D9-B829-C874BE2E3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61989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251EF3B-E503-4D07-3AA4-010B33E44C9D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8EF793A-71A7-F906-4F33-94D08401910D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0D6014A-B52A-9DD9-4EB2-D3DF84C73A98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BCE38E4-3786-AC78-DC45-5691808783C9}"/>
              </a:ext>
            </a:extLst>
          </p:cNvPr>
          <p:cNvCxnSpPr/>
          <p:nvPr/>
        </p:nvCxnSpPr>
        <p:spPr>
          <a:xfrm flipV="1">
            <a:off x="1472181" y="5587329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112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C502-16A0-3D9D-095A-0AD75E52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0AC8A6C-87AB-4D5E-28C6-78B6CAB741C7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5CCC939-7F8C-30F2-6DE6-823EEC2FEAF8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CDC7F66-840B-5651-7338-A67A3FA8996C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79EDDB4-696E-8E85-F760-EFE0ACB89F2E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0E53ABB-09D9-AC8D-9D41-E9665AA2E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123379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5B6F2C82-2301-37B2-8210-B405199723D2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C984255-A143-A9BC-D91B-F07552F494BD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0DE869D-8620-D723-CD78-129B108081B4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350E443-5A71-AC6C-C80E-D428A35AA836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F12D4166-F990-DD14-A078-B63B92A8588E}"/>
              </a:ext>
            </a:extLst>
          </p:cNvPr>
          <p:cNvGraphicFramePr>
            <a:graphicFrameLocks noGrp="1"/>
          </p:cNvGraphicFramePr>
          <p:nvPr/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736F5813-602C-43CB-467E-628AFD2A8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803554"/>
              </p:ext>
            </p:extLst>
          </p:nvPr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2F0025A5-7640-D608-9C2C-531213372A5D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BEC617F9-6E4E-B400-7010-6170AEEE9755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BD130DAD-411D-4140-EF20-5C1E3C387DBC}"/>
              </a:ext>
            </a:extLst>
          </p:cNvPr>
          <p:cNvSpPr/>
          <p:nvPr/>
        </p:nvSpPr>
        <p:spPr>
          <a:xfrm>
            <a:off x="5444092" y="462695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2D7A7839-5547-81BE-4EE9-6900A865870F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A6ED959-4EEF-C0EB-B5FF-9417D2ACC69C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Quarto elemento que peguei foi 7 e vou ver quem esta na posição de índice 7 por isso o </a:t>
            </a:r>
            <a:r>
              <a:rPr lang="pt-BR" b="1" i="1" dirty="0"/>
              <a:t>A[i] -1 = 7 – 1 índice 6 e é o 9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3DD794C-A43F-DB39-4BFC-308E8FA03226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9 para saber onde encaixar em B por isso o </a:t>
            </a:r>
            <a:r>
              <a:rPr lang="pt-BR" b="1" i="1" dirty="0"/>
              <a:t>C[A[i] -1]-1 que seria 9 – 1 = 8 índice 8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7874BD2-5757-FC73-8EBC-EF970070929C}"/>
              </a:ext>
            </a:extLst>
          </p:cNvPr>
          <p:cNvSpPr/>
          <p:nvPr/>
        </p:nvSpPr>
        <p:spPr>
          <a:xfrm>
            <a:off x="8250197" y="3933429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03E63782-18ED-7F9E-0FD9-1BBD6AB6FC81}"/>
              </a:ext>
            </a:extLst>
          </p:cNvPr>
          <p:cNvSpPr/>
          <p:nvPr/>
        </p:nvSpPr>
        <p:spPr>
          <a:xfrm>
            <a:off x="5646091" y="239963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C360E46-9B3D-05C1-73B8-2EA5D1D2B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789957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614BFAF-9171-CC95-F3C6-9C1104FDF099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3227837-B9F6-36C3-557E-0AEFB0670FD9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04D0A8-52AD-0ADF-A12A-B2EA4CE56535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2D551121-358F-F27E-5FA7-62DC5DF42C58}"/>
              </a:ext>
            </a:extLst>
          </p:cNvPr>
          <p:cNvCxnSpPr/>
          <p:nvPr/>
        </p:nvCxnSpPr>
        <p:spPr>
          <a:xfrm flipV="1">
            <a:off x="5757756" y="5626689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329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2D6D-D1D3-C36A-5093-FBFE2C1B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B3FA981-1A92-0452-DA55-0AC8D7A7FE04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C610E8E-E178-D98D-8AC4-A66BFC772DB2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84BFDFD-BDB2-B962-A2E9-3BDD80E02DA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E6E8CCD-B408-4387-01F9-B6B0B3FEDB5E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1F231AA-BBD8-A68C-7DD9-404EA9A4E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393009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2313821-AA69-5570-66BC-CD7560D4A990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D044C00-FAFD-7CB5-14F0-586794762888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23D896C-26C5-3715-B166-BD8BB77BE24C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7D332DB-D349-4932-8F55-A916F631EDDD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B73D60F6-E89D-EAB8-2772-BA1F637F5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39603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26CECF19-D7FC-168B-A407-8630502D5708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18A5F195-6CBD-ED5B-2F6F-9677920D8A96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EC1092D6-AACA-069A-0FC9-B722736F9E09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000587CB-59B9-A2AE-E6CA-7E25B4D19199}"/>
              </a:ext>
            </a:extLst>
          </p:cNvPr>
          <p:cNvSpPr/>
          <p:nvPr/>
        </p:nvSpPr>
        <p:spPr>
          <a:xfrm>
            <a:off x="4627422" y="47297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9C69C13F-9D9D-9082-8FBA-86AFBE966CCB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F429CFE-2339-D1F1-9098-116B25D3F3AC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Quinto elemento que peguei foi 4 e vou ver quem esta na posição de índice 4 por isso o </a:t>
            </a:r>
            <a:r>
              <a:rPr lang="pt-BR" b="1" i="1" dirty="0"/>
              <a:t>A[i] -1 = 4 – 1 índice 3 e é o 7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1808B51-56EB-9AD9-C2CE-A3EDB319427C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7 para saber onde encaixar em B por isso o </a:t>
            </a:r>
            <a:r>
              <a:rPr lang="pt-BR" b="1" i="1" dirty="0"/>
              <a:t>C[A[i] -1]-1 que seria 7 – 1 = 6 índice 6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8CF38EF-B48D-EA76-3EEF-3D306549B4DE}"/>
              </a:ext>
            </a:extLst>
          </p:cNvPr>
          <p:cNvSpPr/>
          <p:nvPr/>
        </p:nvSpPr>
        <p:spPr>
          <a:xfrm>
            <a:off x="6131509" y="395669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10D9615-A8E6-A337-3130-DCDA552F8B96}"/>
              </a:ext>
            </a:extLst>
          </p:cNvPr>
          <p:cNvSpPr/>
          <p:nvPr/>
        </p:nvSpPr>
        <p:spPr>
          <a:xfrm>
            <a:off x="3522190" y="240990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CF1A69A-BCFB-5F88-9580-5A9500530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195352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455CA68-143C-F148-EF5D-0E5DCD5C20E1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E605B50-E826-3C96-C158-8B490265E51E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4CAE550-8398-35FF-BEDC-34E0FAE5CC81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D60F1C8-96F6-A5DC-9F46-6C6A02AE2EBE}"/>
              </a:ext>
            </a:extLst>
          </p:cNvPr>
          <p:cNvCxnSpPr/>
          <p:nvPr/>
        </p:nvCxnSpPr>
        <p:spPr>
          <a:xfrm flipV="1">
            <a:off x="3578022" y="5626689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288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C74A0-6CE1-E552-0073-B8D0B5F2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7F9F008-F5FD-E3BB-4E02-BFBF8CAF56B1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EAD3442-2C63-1275-70F9-B10EAB65AFD8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BEACDC7-AADB-13A8-27E4-B8DE3C0270DD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75AF4EC-A57C-4704-0683-EE87F6F8DD72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F31DB8D-6712-FA5F-7C40-D9BAF97C8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698758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4740080-B2DE-54D1-6252-07254EE967A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65D0A7A-5B47-E8AD-70C3-8A97C63960DD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D0EAD83-19C6-096B-2C17-6ADE2CFCC93E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CFC2BF2-99FC-2012-C631-3C06BB02DA44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A9546DEE-DE8D-92BE-F863-85200C735D8E}"/>
              </a:ext>
            </a:extLst>
          </p:cNvPr>
          <p:cNvGraphicFramePr>
            <a:graphicFrameLocks noGrp="1"/>
          </p:cNvGraphicFramePr>
          <p:nvPr/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08AF4D34-8A09-F2E5-4968-8E7447339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68174"/>
              </p:ext>
            </p:extLst>
          </p:nvPr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EA1360FA-5249-A5F4-BFF4-AF249B2F8D53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A5D5A259-CDFD-063A-DEF3-1B21CC25972F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8A3562A9-71A0-FE5C-61A9-6CAE89795A4B}"/>
              </a:ext>
            </a:extLst>
          </p:cNvPr>
          <p:cNvSpPr/>
          <p:nvPr/>
        </p:nvSpPr>
        <p:spPr>
          <a:xfrm>
            <a:off x="3835170" y="43676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8F8EA57A-1141-90C9-F86B-2AC0B01A5325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C68290E-B337-3E61-B4C8-D4686266C21B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Sexto elemento que peguei foi 7 e vou ver quem esta na posição de índice 7 por isso o </a:t>
            </a:r>
            <a:r>
              <a:rPr lang="pt-BR" b="1" i="1" dirty="0"/>
              <a:t>A[i] -1 = 7 – 1 índice 6 e é o 8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A14ADD9-1677-BD25-B079-2442B08036E1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8 para saber onde encaixar em B por isso o </a:t>
            </a:r>
            <a:r>
              <a:rPr lang="pt-BR" b="1" i="1" dirty="0"/>
              <a:t>C[A[i] -1]-1 que seria 8 – 1 = 7 índice 7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6804FD2-5A67-ADA8-731C-8681A49925C7}"/>
              </a:ext>
            </a:extLst>
          </p:cNvPr>
          <p:cNvSpPr/>
          <p:nvPr/>
        </p:nvSpPr>
        <p:spPr>
          <a:xfrm>
            <a:off x="7216732" y="395669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15A0E8A-7C85-DFF0-2051-BC73F9923363}"/>
              </a:ext>
            </a:extLst>
          </p:cNvPr>
          <p:cNvSpPr/>
          <p:nvPr/>
        </p:nvSpPr>
        <p:spPr>
          <a:xfrm>
            <a:off x="5643418" y="2436475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C40E127-8677-EF16-EAE1-7688E672A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815424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D06A51A-B419-F12E-D45F-2AA0F2FD4DEF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FF1FB0-6A09-6105-579C-2AF47E0EBB3C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CB7022A-44F5-0D36-F86F-6EE30D733AF4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5BD6371-D0F4-B66D-558D-24F698EEA0B8}"/>
              </a:ext>
            </a:extLst>
          </p:cNvPr>
          <p:cNvCxnSpPr/>
          <p:nvPr/>
        </p:nvCxnSpPr>
        <p:spPr>
          <a:xfrm flipV="1">
            <a:off x="5755083" y="5560757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936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782B7-012B-6AE8-C838-D276CF0A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5A6179B-65C3-2374-75EA-4E19DE972FB4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E156D64-A110-813C-ECE6-F097F027910F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491F381-45DA-3D60-F055-F1124B732FA4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C51E26C-16F5-078D-A222-0DA0F363CD72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1B49357D-E837-9E3B-053E-BAE0C82ED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48424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0C30A88-D76F-C307-C1FD-C238868DA574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E756EA7-E283-BDD6-F301-1D2CD52E6BC7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FD2C8BA-BE5F-C397-B5C2-8B8CFBA59E3B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77FADEA-C5DC-90A3-F32A-11C95855E0F4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9542D9A9-46BB-74A3-4FE4-5DBFE9BE5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219719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E9EB7471-985F-6367-B07A-61810B65BC96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F574F31B-29C1-AE73-CB4B-0765B9B78665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4288FFCA-2511-8C1E-00E2-97034F3B100A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4CE561FE-6467-F886-9687-5A4EDE313949}"/>
              </a:ext>
            </a:extLst>
          </p:cNvPr>
          <p:cNvSpPr/>
          <p:nvPr/>
        </p:nvSpPr>
        <p:spPr>
          <a:xfrm>
            <a:off x="3074326" y="51629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70E7F8D0-3D9A-ECBD-2CA3-7258ABCE069E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F6E669D-2B50-FD0E-A413-62B1CD0907EE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Sétimo elemento que peguei foi 4 e vou ver quem esta na posição de índice 4 por isso o </a:t>
            </a:r>
            <a:r>
              <a:rPr lang="pt-BR" b="1" i="1" dirty="0"/>
              <a:t>A[i] -1 = 4 – 1 índice 3 e é o 6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55EB1B1-3067-E62A-1DDE-5B11B1FE01E7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6 para saber onde encaixar em B por isso o </a:t>
            </a:r>
            <a:r>
              <a:rPr lang="pt-BR" b="1" i="1" dirty="0"/>
              <a:t>C[A[i] -1]-1 que seria 6 – 1 = 5 índice 5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97FE55F-4DA7-2255-A3EA-801E47329BCB}"/>
              </a:ext>
            </a:extLst>
          </p:cNvPr>
          <p:cNvSpPr/>
          <p:nvPr/>
        </p:nvSpPr>
        <p:spPr>
          <a:xfrm>
            <a:off x="5302501" y="398826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65183EE9-70A4-5FDF-81A8-8D21C2C47273}"/>
              </a:ext>
            </a:extLst>
          </p:cNvPr>
          <p:cNvSpPr/>
          <p:nvPr/>
        </p:nvSpPr>
        <p:spPr>
          <a:xfrm>
            <a:off x="3522190" y="2389502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A6F15EA-6F34-E994-1694-A0F4C1FAF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49064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CA6DCC5-88AE-12DF-9943-AB73FBA9A195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6C0B6A1-4670-BBA6-D0EA-4376C6CA1371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7156575-E22D-4A78-FBF3-87E7E6957929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0567770-437A-017B-9AD3-469CEE340D52}"/>
              </a:ext>
            </a:extLst>
          </p:cNvPr>
          <p:cNvCxnSpPr/>
          <p:nvPr/>
        </p:nvCxnSpPr>
        <p:spPr>
          <a:xfrm flipV="1">
            <a:off x="3712457" y="5541188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829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4F3BB-8658-10E5-1C64-50DC5083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46DD345-C21C-1083-0B9C-A62F626AC31C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7BAFBB0-7A17-297F-E026-FE28050A7EE2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61F23C0-652A-1230-F810-71C32F006F04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EB6C6DA-F94D-1BAF-185F-67C21F6C043D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5932BF2-AEA2-5CFC-A12B-AF6AAA54D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044312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3F4C0A1-1C46-2FF0-0FD8-08412BDC444F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EFC35F-EDF0-2F08-E9BF-88D8DE8932C4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62032FE-82E5-E940-F9FA-9AFC1C718365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5264214-790E-B137-8BA9-4A55D25F447E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184A9D14-0E69-405A-E693-B7301217C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740640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6F030379-BA8C-CE25-074C-229D5ABC3A31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AC7525EB-FB5E-8DE1-509E-FC324F6D3133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234C4361-C6E4-C35D-37C7-CA751383F80E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8C623273-107C-29E2-BA1F-D602C2E3FE9E}"/>
              </a:ext>
            </a:extLst>
          </p:cNvPr>
          <p:cNvSpPr/>
          <p:nvPr/>
        </p:nvSpPr>
        <p:spPr>
          <a:xfrm>
            <a:off x="2169163" y="44357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52EB95A2-9363-D11D-ABE0-98C073575139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7264491-E995-87D9-7C2B-C90F690F55E1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Oitavo elemento que peguei foi 2 e vou ver quem esta na posição de índice 2 por isso o </a:t>
            </a:r>
            <a:r>
              <a:rPr lang="pt-BR" b="1" i="1" dirty="0"/>
              <a:t>A[i] -1 = 2 – 1 índice 1 e é o 2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C25BEB0-990C-3C26-CB28-10E6EE3DF93E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2 para saber onde encaixar em B por isso o </a:t>
            </a:r>
            <a:r>
              <a:rPr lang="pt-BR" b="1" i="1" dirty="0"/>
              <a:t>C[A[i] -1]-1 que seria 2 – 1 = 1 índice 1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5B6B5CB9-D809-19F1-0319-E859FB44E9C0}"/>
              </a:ext>
            </a:extLst>
          </p:cNvPr>
          <p:cNvSpPr/>
          <p:nvPr/>
        </p:nvSpPr>
        <p:spPr>
          <a:xfrm>
            <a:off x="2169162" y="3962826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E1701F1-B9F8-34EF-1A48-7B052E9897D2}"/>
              </a:ext>
            </a:extLst>
          </p:cNvPr>
          <p:cNvSpPr/>
          <p:nvPr/>
        </p:nvSpPr>
        <p:spPr>
          <a:xfrm>
            <a:off x="2072081" y="2388365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38AAF20-574D-29C2-4BA7-6B4D65AB0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502066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17844AD-F748-F930-B7B1-6EFD07FD4F3F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298B087-4AC7-2DF5-D2DD-3222A722FA3A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E1E4518-062A-9BD7-87A6-1247C798008C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0BD4869-2565-896F-8EC7-92EA47B81F27}"/>
              </a:ext>
            </a:extLst>
          </p:cNvPr>
          <p:cNvCxnSpPr/>
          <p:nvPr/>
        </p:nvCxnSpPr>
        <p:spPr>
          <a:xfrm flipV="1">
            <a:off x="2224994" y="5600710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75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832F-4731-1167-82D9-D7C9D7BA7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E469168-A233-0799-4C0D-2B298D8D7AE4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41DBAC4-E0B3-86AA-ED35-C2CEF2B8477B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5F30049-F3D7-D395-5B62-26FF058F13DC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7236346-0715-2DF2-D0EF-DDC4272AF291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CE3CD4A-9049-CCE2-4294-6D7017502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867622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15115A1-1381-3C6F-E2E9-4001AF6E49E8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7DADFA-220F-B51C-8E4C-B378FAB896E3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7E3574D-90CF-8181-D5DE-16E6CF09A8DD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8947513-7E10-A33F-1064-C79D2DB5458F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C4163BC5-3CFA-EF33-9DAC-33D77EB60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70934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318FBB11-C1D7-7E9F-BE66-E98792483A9C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AFCB504C-88B2-ABC8-06CA-218F7723E8D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715697D9-2F65-216D-7F88-5D160C5710D9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7BF03C0E-E390-FCCD-D04D-31D4EA4B5EA7}"/>
              </a:ext>
            </a:extLst>
          </p:cNvPr>
          <p:cNvSpPr/>
          <p:nvPr/>
        </p:nvSpPr>
        <p:spPr>
          <a:xfrm>
            <a:off x="1363752" y="47115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8886B412-2912-2905-BF2E-91D35FBD3428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DD569E8-6085-52E0-BB50-A819B15617CC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Nono elemento que peguei foi 3 e vou ver quem esta na posição de índice 3 por isso o </a:t>
            </a:r>
            <a:r>
              <a:rPr lang="pt-BR" b="1" i="1" dirty="0"/>
              <a:t>A[i] -1 = 3 – 1 índice 2 e é o 4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D1CD6F8-E6D4-6A1F-9180-E3A8CCF587C0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4 para saber onde encaixar em B por isso o </a:t>
            </a:r>
            <a:r>
              <a:rPr lang="pt-BR" b="1" i="1" dirty="0"/>
              <a:t>C[A[i] -1]-1 que seria 4 – 1 = 3 índice 3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AB87A24-6F4E-6181-56BC-6A82005300A0}"/>
              </a:ext>
            </a:extLst>
          </p:cNvPr>
          <p:cNvSpPr/>
          <p:nvPr/>
        </p:nvSpPr>
        <p:spPr>
          <a:xfrm>
            <a:off x="3764182" y="3962826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04B76958-5883-D67A-97F8-6BD85D4182B1}"/>
              </a:ext>
            </a:extLst>
          </p:cNvPr>
          <p:cNvSpPr/>
          <p:nvPr/>
        </p:nvSpPr>
        <p:spPr>
          <a:xfrm>
            <a:off x="2774044" y="2425012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201DF77-85EA-53FD-2F9C-E29D2905C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764096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1D6FF31-2D97-8A20-BF0D-346652E2538A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40F2A20-F242-82DC-D8B8-B40F634017C8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2414806-07C0-A1B2-28CC-E28C5930B178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FB58597D-89D6-71BC-6BDE-FEAA803BD7E7}"/>
              </a:ext>
            </a:extLst>
          </p:cNvPr>
          <p:cNvCxnSpPr/>
          <p:nvPr/>
        </p:nvCxnSpPr>
        <p:spPr>
          <a:xfrm flipV="1">
            <a:off x="2885709" y="5626689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348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5" r="-675"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  <p:grpSp>
        <p:nvGrpSpPr>
          <p:cNvPr id="3" name="Group 3"/>
          <p:cNvGrpSpPr/>
          <p:nvPr/>
        </p:nvGrpSpPr>
        <p:grpSpPr>
          <a:xfrm>
            <a:off x="4827948" y="0"/>
            <a:ext cx="7364052" cy="6858000"/>
            <a:chOff x="0" y="0"/>
            <a:chExt cx="1711327" cy="1593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1327" cy="1593725"/>
            </a:xfrm>
            <a:custGeom>
              <a:avLst/>
              <a:gdLst/>
              <a:ahLst/>
              <a:cxnLst/>
              <a:rect l="l" t="t" r="r" b="b"/>
              <a:pathLst>
                <a:path w="1711327" h="1593725">
                  <a:moveTo>
                    <a:pt x="0" y="0"/>
                  </a:moveTo>
                  <a:lnTo>
                    <a:pt x="1711327" y="0"/>
                  </a:lnTo>
                  <a:lnTo>
                    <a:pt x="171132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32780" r="-32780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721472"/>
            <a:ext cx="9294662" cy="5450729"/>
            <a:chOff x="0" y="0"/>
            <a:chExt cx="4023408" cy="2153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23408" cy="2153374"/>
            </a:xfrm>
            <a:custGeom>
              <a:avLst/>
              <a:gdLst/>
              <a:ahLst/>
              <a:cxnLst/>
              <a:rect l="l" t="t" r="r" b="b"/>
              <a:pathLst>
                <a:path w="4023408" h="2153374">
                  <a:moveTo>
                    <a:pt x="50679" y="0"/>
                  </a:moveTo>
                  <a:lnTo>
                    <a:pt x="3972729" y="0"/>
                  </a:lnTo>
                  <a:cubicBezTo>
                    <a:pt x="4000718" y="0"/>
                    <a:pt x="4023408" y="22690"/>
                    <a:pt x="4023408" y="50679"/>
                  </a:cubicBezTo>
                  <a:lnTo>
                    <a:pt x="4023408" y="2102695"/>
                  </a:lnTo>
                  <a:cubicBezTo>
                    <a:pt x="4023408" y="2130685"/>
                    <a:pt x="4000718" y="2153374"/>
                    <a:pt x="3972729" y="2153374"/>
                  </a:cubicBezTo>
                  <a:lnTo>
                    <a:pt x="50679" y="2153374"/>
                  </a:lnTo>
                  <a:cubicBezTo>
                    <a:pt x="37238" y="2153374"/>
                    <a:pt x="24348" y="2148035"/>
                    <a:pt x="14844" y="2138531"/>
                  </a:cubicBezTo>
                  <a:cubicBezTo>
                    <a:pt x="5339" y="2129027"/>
                    <a:pt x="0" y="2116136"/>
                    <a:pt x="0" y="2102695"/>
                  </a:cubicBezTo>
                  <a:lnTo>
                    <a:pt x="0" y="50679"/>
                  </a:lnTo>
                  <a:cubicBezTo>
                    <a:pt x="0" y="37238"/>
                    <a:pt x="5339" y="24348"/>
                    <a:pt x="14844" y="14844"/>
                  </a:cubicBezTo>
                  <a:cubicBezTo>
                    <a:pt x="24348" y="5339"/>
                    <a:pt x="37238" y="0"/>
                    <a:pt x="506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02DA2">
                    <a:alpha val="100000"/>
                  </a:srgbClr>
                </a:gs>
                <a:gs pos="50000">
                  <a:srgbClr val="152859">
                    <a:alpha val="100000"/>
                  </a:srgbClr>
                </a:gs>
                <a:gs pos="100000">
                  <a:srgbClr val="06032B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23408" cy="21914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5800" y="2708648"/>
            <a:ext cx="3289943" cy="1060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338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Análise da complexidade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65331" y="1794621"/>
            <a:ext cx="342419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1823" lvl="1" indent="-215911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Melhor caso: Θ(n + k)</a:t>
            </a:r>
          </a:p>
          <a:p>
            <a:pPr marL="431823" lvl="1" indent="-215911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 médio: Θ(n + k)</a:t>
            </a:r>
          </a:p>
          <a:p>
            <a:pPr marL="431823" lvl="1" indent="-215911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Pior caso: Θ(n + k)</a:t>
            </a:r>
          </a:p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93080" y="3521448"/>
            <a:ext cx="4151601" cy="1543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Onde:</a:t>
            </a:r>
          </a:p>
          <a:p>
            <a:pPr marL="431823" lvl="1" indent="-215911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é o número de elementos a serem ordenados,</a:t>
            </a:r>
          </a:p>
          <a:p>
            <a:pPr marL="431823" lvl="1" indent="-215911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 é o maior valor entre os elementos.</a:t>
            </a:r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2375730" y="4185208"/>
            <a:ext cx="823629" cy="234581"/>
            <a:chOff x="0" y="0"/>
            <a:chExt cx="325385" cy="926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5385" cy="92674"/>
            </a:xfrm>
            <a:custGeom>
              <a:avLst/>
              <a:gdLst/>
              <a:ahLst/>
              <a:cxnLst/>
              <a:rect l="l" t="t" r="r" b="b"/>
              <a:pathLst>
                <a:path w="325385" h="92674">
                  <a:moveTo>
                    <a:pt x="0" y="0"/>
                  </a:moveTo>
                  <a:lnTo>
                    <a:pt x="325385" y="0"/>
                  </a:lnTo>
                  <a:lnTo>
                    <a:pt x="325385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25385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3354712" y="4185208"/>
            <a:ext cx="366330" cy="234581"/>
            <a:chOff x="0" y="0"/>
            <a:chExt cx="144723" cy="926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723" cy="92674"/>
            </a:xfrm>
            <a:custGeom>
              <a:avLst/>
              <a:gdLst/>
              <a:ahLst/>
              <a:cxnLst/>
              <a:rect l="l" t="t" r="r" b="b"/>
              <a:pathLst>
                <a:path w="144723" h="92674">
                  <a:moveTo>
                    <a:pt x="0" y="0"/>
                  </a:moveTo>
                  <a:lnTo>
                    <a:pt x="144723" y="0"/>
                  </a:lnTo>
                  <a:lnTo>
                    <a:pt x="144723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4723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685800" y="4185208"/>
            <a:ext cx="1532776" cy="234581"/>
            <a:chOff x="0" y="0"/>
            <a:chExt cx="605541" cy="926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5541" cy="92674"/>
            </a:xfrm>
            <a:custGeom>
              <a:avLst/>
              <a:gdLst/>
              <a:ahLst/>
              <a:cxnLst/>
              <a:rect l="l" t="t" r="r" b="b"/>
              <a:pathLst>
                <a:path w="605541" h="92674">
                  <a:moveTo>
                    <a:pt x="0" y="0"/>
                  </a:moveTo>
                  <a:lnTo>
                    <a:pt x="605541" y="0"/>
                  </a:lnTo>
                  <a:lnTo>
                    <a:pt x="605541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05541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29910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5" r="-675"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  <p:grpSp>
        <p:nvGrpSpPr>
          <p:cNvPr id="3" name="Group 3"/>
          <p:cNvGrpSpPr/>
          <p:nvPr/>
        </p:nvGrpSpPr>
        <p:grpSpPr>
          <a:xfrm>
            <a:off x="4476343" y="1714500"/>
            <a:ext cx="7029857" cy="4706386"/>
            <a:chOff x="0" y="0"/>
            <a:chExt cx="2777228" cy="18593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7228" cy="1859313"/>
            </a:xfrm>
            <a:custGeom>
              <a:avLst/>
              <a:gdLst/>
              <a:ahLst/>
              <a:cxnLst/>
              <a:rect l="l" t="t" r="r" b="b"/>
              <a:pathLst>
                <a:path w="2777228" h="1859313">
                  <a:moveTo>
                    <a:pt x="73419" y="0"/>
                  </a:moveTo>
                  <a:lnTo>
                    <a:pt x="2703808" y="0"/>
                  </a:lnTo>
                  <a:cubicBezTo>
                    <a:pt x="2723280" y="0"/>
                    <a:pt x="2741955" y="7735"/>
                    <a:pt x="2755723" y="21504"/>
                  </a:cubicBezTo>
                  <a:cubicBezTo>
                    <a:pt x="2769492" y="35273"/>
                    <a:pt x="2777228" y="53947"/>
                    <a:pt x="2777228" y="73419"/>
                  </a:cubicBezTo>
                  <a:lnTo>
                    <a:pt x="2777228" y="1785894"/>
                  </a:lnTo>
                  <a:cubicBezTo>
                    <a:pt x="2777228" y="1826442"/>
                    <a:pt x="2744357" y="1859313"/>
                    <a:pt x="2703808" y="1859313"/>
                  </a:cubicBezTo>
                  <a:lnTo>
                    <a:pt x="73419" y="1859313"/>
                  </a:lnTo>
                  <a:cubicBezTo>
                    <a:pt x="53947" y="1859313"/>
                    <a:pt x="35273" y="1851578"/>
                    <a:pt x="21504" y="1837809"/>
                  </a:cubicBezTo>
                  <a:cubicBezTo>
                    <a:pt x="7735" y="1824040"/>
                    <a:pt x="0" y="1805366"/>
                    <a:pt x="0" y="1785894"/>
                  </a:cubicBezTo>
                  <a:lnTo>
                    <a:pt x="0" y="73419"/>
                  </a:lnTo>
                  <a:cubicBezTo>
                    <a:pt x="0" y="53947"/>
                    <a:pt x="7735" y="35273"/>
                    <a:pt x="21504" y="21504"/>
                  </a:cubicBezTo>
                  <a:cubicBezTo>
                    <a:pt x="35273" y="7735"/>
                    <a:pt x="53947" y="0"/>
                    <a:pt x="734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02DA2">
                    <a:alpha val="100000"/>
                  </a:srgbClr>
                </a:gs>
                <a:gs pos="50000">
                  <a:srgbClr val="152859">
                    <a:alpha val="100000"/>
                  </a:srgbClr>
                </a:gs>
                <a:gs pos="100000">
                  <a:srgbClr val="06032B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77228" cy="1897413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3200" y="685800"/>
            <a:ext cx="11709400" cy="2057400"/>
            <a:chOff x="0" y="0"/>
            <a:chExt cx="2779302" cy="478118"/>
          </a:xfrm>
        </p:grpSpPr>
        <p:sp>
          <p:nvSpPr>
            <p:cNvPr id="7" name="Freeform 7"/>
            <p:cNvSpPr/>
            <p:nvPr/>
          </p:nvSpPr>
          <p:spPr>
            <a:xfrm flipH="1">
              <a:off x="0" y="0"/>
              <a:ext cx="2779302" cy="478118"/>
            </a:xfrm>
            <a:custGeom>
              <a:avLst/>
              <a:gdLst/>
              <a:ahLst/>
              <a:cxnLst/>
              <a:rect l="l" t="t" r="r" b="b"/>
              <a:pathLst>
                <a:path w="2779302" h="478118">
                  <a:moveTo>
                    <a:pt x="2736147" y="0"/>
                  </a:moveTo>
                  <a:lnTo>
                    <a:pt x="43156" y="0"/>
                  </a:lnTo>
                  <a:cubicBezTo>
                    <a:pt x="19321" y="0"/>
                    <a:pt x="0" y="19321"/>
                    <a:pt x="0" y="43156"/>
                  </a:cubicBezTo>
                  <a:lnTo>
                    <a:pt x="0" y="434962"/>
                  </a:lnTo>
                  <a:cubicBezTo>
                    <a:pt x="0" y="458796"/>
                    <a:pt x="19321" y="478118"/>
                    <a:pt x="43156" y="478118"/>
                  </a:cubicBezTo>
                  <a:lnTo>
                    <a:pt x="2736147" y="478118"/>
                  </a:lnTo>
                  <a:cubicBezTo>
                    <a:pt x="2759981" y="478118"/>
                    <a:pt x="2779302" y="458796"/>
                    <a:pt x="2779302" y="434962"/>
                  </a:cubicBezTo>
                  <a:lnTo>
                    <a:pt x="2779302" y="43156"/>
                  </a:lnTo>
                  <a:cubicBezTo>
                    <a:pt x="2779302" y="19321"/>
                    <a:pt x="2759981" y="0"/>
                    <a:pt x="2736147" y="0"/>
                  </a:cubicBezTo>
                  <a:close/>
                </a:path>
              </a:pathLst>
            </a:custGeom>
            <a:blipFill>
              <a:blip r:embed="rId3"/>
              <a:stretch>
                <a:fillRect t="-143645" b="-143645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0961" y="3150597"/>
            <a:ext cx="3315627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266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73364" y="3070410"/>
            <a:ext cx="6035815" cy="2660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desempenho do Counting Sort depende tanto do número de elementos quanto do valor máximo presente nos dados. </a:t>
            </a: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endParaRPr lang="en-US" sz="213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560"/>
              </a:lnSpc>
              <a:spcBef>
                <a:spcPct val="0"/>
              </a:spcBef>
            </a:pPr>
            <a:r>
              <a:rPr lang="en-US" sz="21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 é eficiente quando k não é muito maior que n, ou seja, quando os valores estão dentro de um intervalo pequeno comparado ao total de elementos.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2571206" y="4064997"/>
            <a:ext cx="843278" cy="234581"/>
            <a:chOff x="0" y="0"/>
            <a:chExt cx="333147" cy="926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3147" cy="92674"/>
            </a:xfrm>
            <a:custGeom>
              <a:avLst/>
              <a:gdLst/>
              <a:ahLst/>
              <a:cxnLst/>
              <a:rect l="l" t="t" r="r" b="b"/>
              <a:pathLst>
                <a:path w="333147" h="92674">
                  <a:moveTo>
                    <a:pt x="0" y="0"/>
                  </a:moveTo>
                  <a:lnTo>
                    <a:pt x="333147" y="0"/>
                  </a:lnTo>
                  <a:lnTo>
                    <a:pt x="333147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33147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3573542" y="4064997"/>
            <a:ext cx="375069" cy="234581"/>
            <a:chOff x="0" y="0"/>
            <a:chExt cx="148175" cy="926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175" cy="92674"/>
            </a:xfrm>
            <a:custGeom>
              <a:avLst/>
              <a:gdLst/>
              <a:ahLst/>
              <a:cxnLst/>
              <a:rect l="l" t="t" r="r" b="b"/>
              <a:pathLst>
                <a:path w="148175" h="92674">
                  <a:moveTo>
                    <a:pt x="0" y="0"/>
                  </a:moveTo>
                  <a:lnTo>
                    <a:pt x="148175" y="0"/>
                  </a:lnTo>
                  <a:lnTo>
                    <a:pt x="148175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8175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840961" y="4064997"/>
            <a:ext cx="1569341" cy="234581"/>
            <a:chOff x="0" y="0"/>
            <a:chExt cx="619987" cy="92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9987" cy="92674"/>
            </a:xfrm>
            <a:custGeom>
              <a:avLst/>
              <a:gdLst/>
              <a:ahLst/>
              <a:cxnLst/>
              <a:rect l="l" t="t" r="r" b="b"/>
              <a:pathLst>
                <a:path w="619987" h="92674">
                  <a:moveTo>
                    <a:pt x="0" y="0"/>
                  </a:moveTo>
                  <a:lnTo>
                    <a:pt x="619987" y="0"/>
                  </a:lnTo>
                  <a:lnTo>
                    <a:pt x="619987" y="92674"/>
                  </a:lnTo>
                  <a:lnTo>
                    <a:pt x="0" y="92674"/>
                  </a:lnTo>
                  <a:close/>
                </a:path>
              </a:pathLst>
            </a:custGeom>
            <a:solidFill>
              <a:srgbClr val="16028B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19987" cy="1307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37642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5" r="-675"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</p:txBody>
      </p:sp>
      <p:grpSp>
        <p:nvGrpSpPr>
          <p:cNvPr id="3" name="Group 3"/>
          <p:cNvGrpSpPr/>
          <p:nvPr/>
        </p:nvGrpSpPr>
        <p:grpSpPr>
          <a:xfrm>
            <a:off x="685800" y="2240283"/>
            <a:ext cx="4667843" cy="5177955"/>
            <a:chOff x="0" y="0"/>
            <a:chExt cx="897142" cy="9951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7142" cy="995184"/>
            </a:xfrm>
            <a:custGeom>
              <a:avLst/>
              <a:gdLst/>
              <a:ahLst/>
              <a:cxnLst/>
              <a:rect l="l" t="t" r="r" b="b"/>
              <a:pathLst>
                <a:path w="897142" h="995184">
                  <a:moveTo>
                    <a:pt x="110571" y="0"/>
                  </a:moveTo>
                  <a:lnTo>
                    <a:pt x="786571" y="0"/>
                  </a:lnTo>
                  <a:cubicBezTo>
                    <a:pt x="815897" y="0"/>
                    <a:pt x="844021" y="11649"/>
                    <a:pt x="864757" y="32385"/>
                  </a:cubicBezTo>
                  <a:cubicBezTo>
                    <a:pt x="885493" y="53122"/>
                    <a:pt x="897142" y="81246"/>
                    <a:pt x="897142" y="110571"/>
                  </a:cubicBezTo>
                  <a:lnTo>
                    <a:pt x="897142" y="884613"/>
                  </a:lnTo>
                  <a:cubicBezTo>
                    <a:pt x="897142" y="945680"/>
                    <a:pt x="847638" y="995184"/>
                    <a:pt x="786571" y="995184"/>
                  </a:cubicBezTo>
                  <a:lnTo>
                    <a:pt x="110571" y="995184"/>
                  </a:lnTo>
                  <a:cubicBezTo>
                    <a:pt x="81246" y="995184"/>
                    <a:pt x="53122" y="983535"/>
                    <a:pt x="32385" y="962799"/>
                  </a:cubicBezTo>
                  <a:cubicBezTo>
                    <a:pt x="11649" y="942063"/>
                    <a:pt x="0" y="913938"/>
                    <a:pt x="0" y="884613"/>
                  </a:cubicBezTo>
                  <a:lnTo>
                    <a:pt x="0" y="110571"/>
                  </a:lnTo>
                  <a:cubicBezTo>
                    <a:pt x="0" y="81246"/>
                    <a:pt x="11649" y="53122"/>
                    <a:pt x="32385" y="32385"/>
                  </a:cubicBezTo>
                  <a:cubicBezTo>
                    <a:pt x="53122" y="11649"/>
                    <a:pt x="81246" y="0"/>
                    <a:pt x="110571" y="0"/>
                  </a:cubicBezTo>
                  <a:close/>
                </a:path>
              </a:pathLst>
            </a:custGeom>
            <a:blipFill>
              <a:blip r:embed="rId3"/>
              <a:stretch>
                <a:fillRect t="-17590" b="-17590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00449" y="1171661"/>
            <a:ext cx="5405751" cy="4573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80"/>
              </a:lnSpc>
            </a:pPr>
            <a:r>
              <a:rPr lang="en-US" sz="17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- https://www.geeksforgeeks.org/counting-sort/</a:t>
            </a:r>
          </a:p>
          <a:p>
            <a:pPr algn="l">
              <a:lnSpc>
                <a:spcPts val="2080"/>
              </a:lnSpc>
            </a:pPr>
            <a:endParaRPr lang="en-US" sz="1733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80"/>
              </a:lnSpc>
            </a:pPr>
            <a:r>
              <a:rPr lang="en-US" sz="17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- https://www.programiz.com/dsa/counting-sort</a:t>
            </a:r>
          </a:p>
          <a:p>
            <a:pPr algn="l">
              <a:lnSpc>
                <a:spcPts val="2080"/>
              </a:lnSpc>
            </a:pPr>
            <a:endParaRPr lang="en-US" sz="1733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80"/>
              </a:lnSpc>
            </a:pPr>
            <a:r>
              <a:rPr lang="en-US" sz="17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- https://visualgo.net/en/sorting</a:t>
            </a:r>
          </a:p>
          <a:p>
            <a:pPr algn="l">
              <a:lnSpc>
                <a:spcPts val="2080"/>
              </a:lnSpc>
            </a:pPr>
            <a:endParaRPr lang="en-US" sz="1733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80"/>
              </a:lnSpc>
              <a:spcBef>
                <a:spcPct val="0"/>
              </a:spcBef>
            </a:pPr>
            <a:r>
              <a:rPr lang="en-US" sz="17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1733" u="sng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  <a:hlinkClick r:id="rId4" tooltip="https://www2.dcc.ufmg.br/livros/algoritmos/"/>
              </a:rPr>
              <a:t>Disease diagnosis using AI &amp; Robots for precision surgery</a:t>
            </a:r>
          </a:p>
          <a:p>
            <a:pPr algn="l">
              <a:lnSpc>
                <a:spcPts val="2080"/>
              </a:lnSpc>
              <a:spcBef>
                <a:spcPct val="0"/>
              </a:spcBef>
            </a:pPr>
            <a:endParaRPr lang="en-US" sz="1733" u="sng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  <a:hlinkClick r:id="rId4" tooltip="https://www2.dcc.ufmg.br/livros/algoritmos/"/>
            </a:endParaRPr>
          </a:p>
          <a:p>
            <a:pPr algn="l">
              <a:lnSpc>
                <a:spcPts val="2080"/>
              </a:lnSpc>
              <a:spcBef>
                <a:spcPct val="0"/>
              </a:spcBef>
            </a:pPr>
            <a:r>
              <a:rPr lang="en-US" sz="17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- Cormen, Thomas H.; Leiserson, Charles E.; Rivest, Ronald L.; Stein, Clifford. Introduction to Algorithms. 3ª </a:t>
            </a:r>
            <a:r>
              <a:rPr lang="en-US" sz="1733" u="sng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edição</a:t>
            </a:r>
            <a:r>
              <a:rPr lang="en-US" sz="17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, MIT Press, 2009.</a:t>
            </a:r>
          </a:p>
          <a:p>
            <a:pPr algn="l">
              <a:lnSpc>
                <a:spcPts val="2080"/>
              </a:lnSpc>
              <a:spcBef>
                <a:spcPct val="0"/>
              </a:spcBef>
            </a:pPr>
            <a:endParaRPr lang="en-US" sz="1733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80"/>
              </a:lnSpc>
              <a:spcBef>
                <a:spcPct val="0"/>
              </a:spcBef>
            </a:pPr>
            <a:r>
              <a:rPr lang="en-US" sz="1733" dirty="0">
                <a:solidFill>
                  <a:srgbClr val="16028B"/>
                </a:solidFill>
                <a:latin typeface="Poppins"/>
                <a:ea typeface="Poppins"/>
                <a:cs typeface="Poppins"/>
                <a:sym typeface="Poppins"/>
              </a:rPr>
              <a:t>- https://www.inf.ufpr.br/lesoliveira/download/c-completo-total.pdf</a:t>
            </a:r>
          </a:p>
          <a:p>
            <a:pPr algn="l">
              <a:lnSpc>
                <a:spcPts val="2080"/>
              </a:lnSpc>
              <a:spcBef>
                <a:spcPct val="0"/>
              </a:spcBef>
            </a:pPr>
            <a:endParaRPr lang="en-US" sz="1733" dirty="0">
              <a:solidFill>
                <a:srgbClr val="1602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5800" y="983734"/>
            <a:ext cx="5609413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266" b="1" dirty="0">
                <a:solidFill>
                  <a:srgbClr val="16028B"/>
                </a:solidFill>
                <a:latin typeface="Poppins Bold"/>
                <a:ea typeface="Poppins Bold"/>
                <a:cs typeface="Poppins Bold"/>
                <a:sym typeface="Poppins Bold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33864381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2365</Words>
  <Application>Microsoft Office PowerPoint</Application>
  <PresentationFormat>Widescreen</PresentationFormat>
  <Paragraphs>859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23</vt:i4>
      </vt:variant>
    </vt:vector>
  </HeadingPairs>
  <TitlesOfParts>
    <vt:vector size="32" baseType="lpstr">
      <vt:lpstr>Aileron Heavy</vt:lpstr>
      <vt:lpstr>Aptos</vt:lpstr>
      <vt:lpstr>Aptos Display</vt:lpstr>
      <vt:lpstr>Arial</vt:lpstr>
      <vt:lpstr>Calibri</vt:lpstr>
      <vt:lpstr>Poppins</vt:lpstr>
      <vt:lpstr>Poppins Bold</vt:lpstr>
      <vt:lpstr>Tema do Office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Começamos o counting sort usando 3 arrays</vt:lpstr>
      <vt:lpstr>1°Passo definir o maior valor</vt:lpstr>
      <vt:lpstr>2° Passo é calcular a frequência dos elementos de A e registrar em C</vt:lpstr>
      <vt:lpstr>3° Passo é calcular a acumulativa desses valore no próprio array C</vt:lpstr>
      <vt:lpstr>4° Passo registrar os elementos de A em B de forma ordenada utilizando as posições fornecidas por C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Ravel Rodrigues de Camargo</dc:creator>
  <cp:lastModifiedBy>Nathalli Vitoria Santos Goncalves</cp:lastModifiedBy>
  <cp:revision>10</cp:revision>
  <dcterms:created xsi:type="dcterms:W3CDTF">2025-05-18T21:07:50Z</dcterms:created>
  <dcterms:modified xsi:type="dcterms:W3CDTF">2025-05-19T20:47:02Z</dcterms:modified>
</cp:coreProperties>
</file>